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18"/>
  </p:notesMasterIdLst>
  <p:handoutMasterIdLst>
    <p:handoutMasterId r:id="rId19"/>
  </p:handoutMasterIdLst>
  <p:sldIdLst>
    <p:sldId id="310" r:id="rId5"/>
    <p:sldId id="309" r:id="rId6"/>
    <p:sldId id="311" r:id="rId7"/>
    <p:sldId id="312" r:id="rId8"/>
    <p:sldId id="313" r:id="rId9"/>
    <p:sldId id="314" r:id="rId10"/>
    <p:sldId id="315" r:id="rId11"/>
    <p:sldId id="316" r:id="rId12"/>
    <p:sldId id="317" r:id="rId13"/>
    <p:sldId id="318" r:id="rId14"/>
    <p:sldId id="319" r:id="rId15"/>
    <p:sldId id="320" r:id="rId16"/>
    <p:sldId id="321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5FAE8"/>
    <a:srgbClr val="47697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9DCAF9ED-07DC-4A11-8D7F-57B35C25682E}"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173" autoAdjust="0"/>
    <p:restoredTop sz="95394" autoAdjust="0"/>
  </p:normalViewPr>
  <p:slideViewPr>
    <p:cSldViewPr snapToGrid="0">
      <p:cViewPr varScale="1">
        <p:scale>
          <a:sx n="105" d="100"/>
          <a:sy n="105" d="100"/>
        </p:scale>
        <p:origin x="996" y="150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0" d="100"/>
        <a:sy n="60" d="100"/>
      </p:scale>
      <p:origin x="0" y="0"/>
    </p:cViewPr>
  </p:sorterViewPr>
  <p:notesViewPr>
    <p:cSldViewPr snapToGrid="0">
      <p:cViewPr varScale="1">
        <p:scale>
          <a:sx n="67" d="100"/>
          <a:sy n="67" d="100"/>
        </p:scale>
        <p:origin x="3120" y="7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8/10/relationships/authors" Target="author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AA3114B-0CDD-4419-A4DE-E0C29A2AE1A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FC25048-78D1-4821-8E2B-7A77CCA12F8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6252186-C111-43A8-A0F7-F77FFDE4DF82}" type="datetimeFigureOut">
              <a:rPr lang="en-US" smtClean="0"/>
              <a:t>3/19/2025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1924695-047D-4CC8-8801-1AA37457E73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0F00293-63F6-438D-A9A8-024975FD55F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D56CFAD-C154-4C9C-AD01-665A5055065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787910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E2BBB5B-F3DE-41D7-B279-483D20E8E363}" type="datetimeFigureOut">
              <a:rPr lang="en-US" smtClean="0"/>
              <a:t>3/19/2025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5B62BC0-7DC4-4569-951D-2BB9475345C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46415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bg>
      <p:bgPr>
        <a:solidFill>
          <a:schemeClr val="accent4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7">
            <a:extLst>
              <a:ext uri="{FF2B5EF4-FFF2-40B4-BE49-F238E27FC236}">
                <a16:creationId xmlns:a16="http://schemas.microsoft.com/office/drawing/2014/main" id="{02728A58-8DE2-4B1C-B6CA-F2AED56F4504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-2"/>
            <a:ext cx="12192000" cy="68580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69D7CAC-EE78-4BAE-94EA-EBE4BB1181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99909" y="2335192"/>
            <a:ext cx="9792182" cy="2187616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txBody>
          <a:bodyPr lIns="914400" tIns="91440" rIns="914400" anchor="ctr"/>
          <a:lstStyle>
            <a:lvl1pPr algn="ctr">
              <a:defRPr sz="5400" b="1" cap="all" spc="100" baseline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11483287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">
    <p:bg>
      <p:bgPr>
        <a:solidFill>
          <a:schemeClr val="accent5">
            <a:alpha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8">
            <a:extLst>
              <a:ext uri="{FF2B5EF4-FFF2-40B4-BE49-F238E27FC236}">
                <a16:creationId xmlns:a16="http://schemas.microsoft.com/office/drawing/2014/main" id="{50298920-F98C-4AFF-A39F-BB5644F96EBA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6772276" cy="685800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D906EC1-D867-4113-B1E4-72ADCC4B158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24747" y="2365057"/>
            <a:ext cx="4377400" cy="2160644"/>
          </a:xfrm>
          <a:prstGeom prst="rect">
            <a:avLst/>
          </a:prstGeom>
          <a:gradFill>
            <a:gsLst>
              <a:gs pos="50000">
                <a:schemeClr val="accent1">
                  <a:lumMod val="5000"/>
                  <a:lumOff val="95000"/>
                  <a:alpha val="0"/>
                </a:schemeClr>
              </a:gs>
              <a:gs pos="50000">
                <a:schemeClr val="accent5">
                  <a:alpha val="10000"/>
                </a:schemeClr>
              </a:gs>
            </a:gsLst>
            <a:lin ang="0" scaled="0"/>
          </a:gradFill>
          <a:ln w="28575">
            <a:solidFill>
              <a:schemeClr val="bg1"/>
            </a:solidFill>
          </a:ln>
        </p:spPr>
        <p:txBody>
          <a:bodyPr anchor="ctr"/>
          <a:lstStyle>
            <a:lvl1pPr algn="ctr">
              <a:defRPr sz="2400" cap="all" spc="1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Add title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FB3EFFF7-FFC6-16DF-B4AB-DD5A1A1DA92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427896" y="0"/>
            <a:ext cx="3344379" cy="6858000"/>
          </a:xfrm>
          <a:custGeom>
            <a:avLst/>
            <a:gdLst>
              <a:gd name="connsiteX0" fmla="*/ 0 w 3344379"/>
              <a:gd name="connsiteY0" fmla="*/ 0 h 6858000"/>
              <a:gd name="connsiteX1" fmla="*/ 3344379 w 3344379"/>
              <a:gd name="connsiteY1" fmla="*/ 0 h 6858000"/>
              <a:gd name="connsiteX2" fmla="*/ 3344379 w 3344379"/>
              <a:gd name="connsiteY2" fmla="*/ 6858000 h 6858000"/>
              <a:gd name="connsiteX3" fmla="*/ 0 w 3344379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344379" h="6858000">
                <a:moveTo>
                  <a:pt x="0" y="0"/>
                </a:moveTo>
                <a:lnTo>
                  <a:pt x="3344379" y="0"/>
                </a:lnTo>
                <a:lnTo>
                  <a:pt x="3344379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5">
              <a:alpha val="10000"/>
            </a:schemeClr>
          </a:solidFill>
        </p:spPr>
        <p:txBody>
          <a:bodyPr wrap="square">
            <a:noAutofit/>
          </a:bodyPr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r>
              <a:rPr lang="en-US" dirty="0"/>
              <a:t>Blank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E6E802E-B214-0AE3-69C8-CBCA885C703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835900" y="2071688"/>
            <a:ext cx="3773488" cy="2732087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buNone/>
              <a:defRPr sz="1800" spc="100" baseline="0"/>
            </a:lvl1pPr>
            <a:lvl2pPr marL="457200" indent="0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buNone/>
              <a:defRPr sz="1800" spc="100" baseline="0"/>
            </a:lvl2pPr>
            <a:lvl3pPr marL="914400" indent="0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buNone/>
              <a:defRPr sz="1800" spc="100" baseline="0"/>
            </a:lvl3pPr>
            <a:lvl4pPr marL="1371600" indent="0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buNone/>
              <a:defRPr sz="1800" spc="100" baseline="0"/>
            </a:lvl4pPr>
            <a:lvl5pPr marL="1828800" indent="0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buNone/>
              <a:defRPr sz="1800" spc="100" baseline="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E0398655-42A6-4DBC-9542-9A8D10B44A6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15906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spc="100" baseline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1FF7C44B-1689-4CA8-B0BC-0671EA12750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473608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1" i="0" cap="all" spc="100" baseline="0">
                <a:solidFill>
                  <a:schemeClr val="bg2">
                    <a:lumMod val="50000"/>
                  </a:schemeClr>
                </a:solidFill>
                <a:effectLst/>
                <a:latin typeface="+mj-lt"/>
              </a:defRPr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7D6105C8-7607-448C-9CD2-9CA33B49B4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791700" y="6356350"/>
            <a:ext cx="1562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spc="100" baseline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EA87306C-81BA-4795-A5CA-9392456A8C1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42380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 2">
    <p:bg>
      <p:bgPr>
        <a:solidFill>
          <a:schemeClr val="accent4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7">
            <a:extLst>
              <a:ext uri="{FF2B5EF4-FFF2-40B4-BE49-F238E27FC236}">
                <a16:creationId xmlns:a16="http://schemas.microsoft.com/office/drawing/2014/main" id="{02728A58-8DE2-4B1C-B6CA-F2AED56F4504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-2"/>
            <a:ext cx="12192000" cy="68580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69D7CAC-EE78-4BAE-94EA-EBE4BB1181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99909" y="2335192"/>
            <a:ext cx="9792182" cy="2187616"/>
          </a:xfrm>
          <a:prstGeom prst="rect">
            <a:avLst/>
          </a:prstGeom>
          <a:noFill/>
          <a:ln w="38100">
            <a:solidFill>
              <a:schemeClr val="accent5"/>
            </a:solidFill>
          </a:ln>
        </p:spPr>
        <p:txBody>
          <a:bodyPr lIns="914400" tIns="182880" rIns="914400" anchor="ctr"/>
          <a:lstStyle>
            <a:lvl1pPr algn="ctr">
              <a:defRPr sz="5400" b="1" cap="all" spc="100" baseline="0"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17371290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bg>
      <p:bgPr>
        <a:solidFill>
          <a:schemeClr val="accent5">
            <a:alpha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ECC6C658-B6F5-98D2-4D95-EA3030D6F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0322" y="-7084"/>
            <a:ext cx="12212321" cy="6858000"/>
          </a:xfrm>
          <a:prstGeom prst="rect">
            <a:avLst/>
          </a:prstGeom>
          <a:solidFill>
            <a:schemeClr val="accent5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39AED10-F37C-48B3-A407-EDC6878C712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50065" y="2372810"/>
            <a:ext cx="4352081" cy="2129742"/>
          </a:xfrm>
          <a:prstGeom prst="rect">
            <a:avLst/>
          </a:prstGeom>
          <a:ln w="28575">
            <a:solidFill>
              <a:schemeClr val="accent4">
                <a:lumMod val="50000"/>
              </a:schemeClr>
            </a:solidFill>
          </a:ln>
        </p:spPr>
        <p:txBody>
          <a:bodyPr anchor="ctr"/>
          <a:lstStyle>
            <a:lvl1pPr algn="ctr">
              <a:defRPr sz="2400" cap="all" spc="100" baseline="0">
                <a:solidFill>
                  <a:schemeClr val="accent4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Add title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0ED8B338-CD86-47FF-A4B9-9EE6A11AFBFD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789480" y="0"/>
            <a:ext cx="5394960" cy="68580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15" name="Date Placeholder 2">
            <a:extLst>
              <a:ext uri="{FF2B5EF4-FFF2-40B4-BE49-F238E27FC236}">
                <a16:creationId xmlns:a16="http://schemas.microsoft.com/office/drawing/2014/main" id="{19507D12-915D-42C7-9250-F3912C1CAEB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14520C17-104B-4F9D-B1D8-2FA4676B3C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473608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1" i="0" cap="all" spc="100" baseline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defRPr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219F9CF7-C4CD-4EEB-A49F-1820A981A2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791700" y="6356350"/>
            <a:ext cx="1562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spc="100" baseline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fld id="{EA87306C-81BA-4795-A5CA-9392456A8C1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13335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bl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0C3FAF69-7EBE-817B-DCEA-4A1595820E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" y="-7515"/>
            <a:ext cx="4661648" cy="6871651"/>
          </a:xfrm>
          <a:prstGeom prst="rect">
            <a:avLst/>
          </a:prstGeom>
          <a:solidFill>
            <a:srgbClr val="47697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720FC4D-FDE2-42C3-B907-27B071B649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6608" y="804862"/>
            <a:ext cx="3401992" cy="5121375"/>
          </a:xfrm>
          <a:prstGeom prst="rect">
            <a:avLst/>
          </a:prstGeom>
          <a:ln w="28575">
            <a:noFill/>
          </a:ln>
        </p:spPr>
        <p:txBody>
          <a:bodyPr anchor="ctr"/>
          <a:lstStyle>
            <a:lvl1pPr algn="ctr">
              <a:defRPr sz="2400" cap="all" spc="1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F4F9403-8AE5-DF79-EFCF-E99EABB83417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5579338" y="804863"/>
            <a:ext cx="5716587" cy="5248276"/>
          </a:xfrm>
          <a:prstGeom prst="rect">
            <a:avLst/>
          </a:prstGeom>
        </p:spPr>
        <p:txBody>
          <a:bodyPr anchor="ctr"/>
          <a:lstStyle>
            <a:lvl1pPr marL="283464" indent="-283464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defRPr sz="1800"/>
            </a:lvl1pPr>
            <a:lvl2pPr marL="731520" indent="-283464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defRPr sz="1800"/>
            </a:lvl2pPr>
            <a:lvl3pPr marL="1097280" indent="-283464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defRPr sz="1800"/>
            </a:lvl3pPr>
            <a:lvl4pPr marL="1463040" indent="-283464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defRPr sz="1800"/>
            </a:lvl4pPr>
            <a:lvl5pPr marL="1828800" indent="-283464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defRPr sz="18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Date Placeholder 3">
            <a:extLst>
              <a:ext uri="{FF2B5EF4-FFF2-40B4-BE49-F238E27FC236}">
                <a16:creationId xmlns:a16="http://schemas.microsoft.com/office/drawing/2014/main" id="{D38E30C9-543F-4532-B571-2F2EF52E7A1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spc="100" baseline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9E2F8B6B-A63E-448F-86E5-CF3F12A2971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1" i="0" cap="all" spc="100" baseline="0">
                <a:solidFill>
                  <a:schemeClr val="bg2">
                    <a:lumMod val="50000"/>
                  </a:schemeClr>
                </a:solidFill>
                <a:latin typeface="+mj-lt"/>
              </a:defRPr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18" name="Slide Number Placeholder 5">
            <a:extLst>
              <a:ext uri="{FF2B5EF4-FFF2-40B4-BE49-F238E27FC236}">
                <a16:creationId xmlns:a16="http://schemas.microsoft.com/office/drawing/2014/main" id="{5EC1D779-DE8A-45DF-9A79-70F63DD68BA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spc="100" baseline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EA87306C-81BA-4795-A5CA-9392456A8C1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64910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Picture">
    <p:bg>
      <p:bgPr>
        <a:solidFill>
          <a:schemeClr val="accent5">
            <a:alpha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9AED10-F37C-48B3-A407-EDC6878C712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647727" y="2060294"/>
            <a:ext cx="4359795" cy="2141316"/>
          </a:xfrm>
          <a:prstGeom prst="rect">
            <a:avLst/>
          </a:prstGeom>
          <a:ln w="28575">
            <a:solidFill>
              <a:schemeClr val="accent4">
                <a:lumMod val="50000"/>
              </a:schemeClr>
            </a:solidFill>
          </a:ln>
        </p:spPr>
        <p:txBody>
          <a:bodyPr anchor="ctr"/>
          <a:lstStyle>
            <a:lvl1pPr algn="ctr">
              <a:defRPr sz="2400" cap="all" spc="100" baseline="0">
                <a:solidFill>
                  <a:schemeClr val="accent4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Add title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0ED8B338-CD86-47FF-A4B9-9EE6A11AFBFD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-9009"/>
            <a:ext cx="5521124" cy="6878584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7" name="Text Placeholder 10">
            <a:extLst>
              <a:ext uri="{FF2B5EF4-FFF2-40B4-BE49-F238E27FC236}">
                <a16:creationId xmlns:a16="http://schemas.microsoft.com/office/drawing/2014/main" id="{F20D097E-45D7-422E-A8D1-635C7DE9A99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670878" y="4550199"/>
            <a:ext cx="4359795" cy="1790164"/>
          </a:xfrm>
          <a:prstGeom prst="rect">
            <a:avLst/>
          </a:prstGeom>
        </p:spPr>
        <p:txBody>
          <a:bodyPr anchor="t"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1800" b="1" cap="all" spc="100" baseline="0">
                <a:solidFill>
                  <a:schemeClr val="accent4">
                    <a:lumMod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5" name="Date Placeholder 2">
            <a:extLst>
              <a:ext uri="{FF2B5EF4-FFF2-40B4-BE49-F238E27FC236}">
                <a16:creationId xmlns:a16="http://schemas.microsoft.com/office/drawing/2014/main" id="{19507D12-915D-42C7-9250-F3912C1CAEB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14520C17-104B-4F9D-B1D8-2FA4676B3C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473608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1" i="0" cap="all" spc="100" baseline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defRPr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219F9CF7-C4CD-4EEB-A49F-1820A981A2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791700" y="6356350"/>
            <a:ext cx="1562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spc="100" baseline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fld id="{EA87306C-81BA-4795-A5CA-9392456A8C1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19122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lu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3A5AC9-F6E1-46F9-8810-475475E17B9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34980" y="706056"/>
            <a:ext cx="6323957" cy="1088020"/>
          </a:xfrm>
          <a:prstGeom prst="rect">
            <a:avLst/>
          </a:prstGeom>
          <a:ln w="28575">
            <a:solidFill>
              <a:schemeClr val="accent2"/>
            </a:solidFill>
          </a:ln>
        </p:spPr>
        <p:txBody>
          <a:bodyPr anchor="ctr"/>
          <a:lstStyle>
            <a:lvl1pPr algn="ctr">
              <a:defRPr sz="2400" cap="all" spc="100" baseline="0"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952C02D9-C262-43C0-BE24-402661B0594A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1" y="0"/>
            <a:ext cx="4495801" cy="68580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000"/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BC3273F-AE8F-21E6-A06E-52686D65496D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135563" y="2291786"/>
            <a:ext cx="3017837" cy="396722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buNone/>
              <a:defRPr sz="1800" spc="100" baseline="0"/>
            </a:lvl1pPr>
            <a:lvl2pPr marL="283464" indent="-283464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defRPr sz="1800" spc="100" baseline="0"/>
            </a:lvl2pPr>
            <a:lvl3pPr marL="685800" indent="-283464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defRPr sz="1800" spc="100" baseline="0"/>
            </a:lvl3pPr>
            <a:lvl4pPr marL="1143000" indent="-283464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defRPr sz="1800" spc="100" baseline="0"/>
            </a:lvl4pPr>
            <a:lvl5pPr marL="1600200" indent="-283464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defRPr sz="1800" spc="10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A011C768-FB8E-F917-0CF9-C9B7DA4CAA62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8473281" y="2294680"/>
            <a:ext cx="3136127" cy="396722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buNone/>
              <a:defRPr sz="1800" spc="100" baseline="0"/>
            </a:lvl1pPr>
            <a:lvl2pPr marL="283464" indent="-283464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defRPr sz="1800" spc="100" baseline="0"/>
            </a:lvl2pPr>
            <a:lvl3pPr marL="685800" indent="-283464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defRPr sz="1800" spc="100" baseline="0"/>
            </a:lvl3pPr>
            <a:lvl4pPr marL="1143000" indent="-283464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defRPr sz="1800" spc="100" baseline="0"/>
            </a:lvl4pPr>
            <a:lvl5pPr marL="1600200" indent="-283464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defRPr sz="1800" spc="10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0" name="Date Placeholder 3">
            <a:extLst>
              <a:ext uri="{FF2B5EF4-FFF2-40B4-BE49-F238E27FC236}">
                <a16:creationId xmlns:a16="http://schemas.microsoft.com/office/drawing/2014/main" id="{61AB9D5A-1951-48B0-9CAE-84FC869BE54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spc="100" baseline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31" name="Footer Placeholder 4">
            <a:extLst>
              <a:ext uri="{FF2B5EF4-FFF2-40B4-BE49-F238E27FC236}">
                <a16:creationId xmlns:a16="http://schemas.microsoft.com/office/drawing/2014/main" id="{3AEF9F4B-0EB4-4C9F-9159-80E393F3A13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1" i="0" cap="all" spc="100" baseline="0">
                <a:solidFill>
                  <a:schemeClr val="bg2">
                    <a:lumMod val="50000"/>
                  </a:schemeClr>
                </a:solidFill>
                <a:latin typeface="+mj-lt"/>
              </a:defRPr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32" name="Slide Number Placeholder 5">
            <a:extLst>
              <a:ext uri="{FF2B5EF4-FFF2-40B4-BE49-F238E27FC236}">
                <a16:creationId xmlns:a16="http://schemas.microsoft.com/office/drawing/2014/main" id="{6BC4F905-196D-4DFF-9947-C56088B56F3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spc="100" baseline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EA87306C-81BA-4795-A5CA-9392456A8C1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12096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duct Overvie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8FD970D0-182D-96E3-04B5-5D634F9C4F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2170545"/>
          </a:xfrm>
          <a:prstGeom prst="rect">
            <a:avLst/>
          </a:prstGeom>
          <a:solidFill>
            <a:schemeClr val="accent2">
              <a:lumMod val="20000"/>
              <a:lumOff val="8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6AEFB40-063A-41A7-9581-865BBE62C3C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226143"/>
            <a:ext cx="10515600" cy="1229033"/>
          </a:xfrm>
          <a:prstGeom prst="rect">
            <a:avLst/>
          </a:prstGeom>
        </p:spPr>
        <p:txBody>
          <a:bodyPr anchor="b"/>
          <a:lstStyle>
            <a:lvl1pPr algn="ctr">
              <a:defRPr sz="2400" cap="all" spc="100" baseline="0">
                <a:solidFill>
                  <a:schemeClr val="tx2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9E453354-6167-7227-F443-F984688CC49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849775" y="2858625"/>
            <a:ext cx="3941763" cy="3338513"/>
          </a:xfrm>
          <a:prstGeom prst="rect">
            <a:avLst/>
          </a:prstGeom>
        </p:spPr>
        <p:txBody>
          <a:bodyPr/>
          <a:lstStyle>
            <a:lvl1pPr marL="347472" indent="-347472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  <a:defRPr sz="1800" spc="100" baseline="0"/>
            </a:lvl1pPr>
            <a:lvl2pPr marL="685800" indent="-347472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buFont typeface="+mj-lt"/>
              <a:buAutoNum type="alphaLcPeriod"/>
              <a:defRPr sz="1600" spc="100" baseline="0"/>
            </a:lvl2pPr>
            <a:lvl3pPr marL="1143000" indent="-347472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buFont typeface="+mj-lt"/>
              <a:buAutoNum type="arabicParenR"/>
              <a:defRPr sz="1400" spc="100" baseline="0"/>
            </a:lvl3pPr>
            <a:lvl4pPr marL="1600200" indent="-347472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buFont typeface="+mj-lt"/>
              <a:buAutoNum type="alphaLcParenR"/>
              <a:defRPr sz="1200" spc="100" baseline="0"/>
            </a:lvl4pPr>
            <a:lvl5pPr marL="2057400" indent="-347472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buFont typeface="+mj-lt"/>
              <a:buAutoNum type="romanLcPeriod"/>
              <a:defRPr sz="1200" spc="10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Content Placeholder 7">
            <a:extLst>
              <a:ext uri="{FF2B5EF4-FFF2-40B4-BE49-F238E27FC236}">
                <a16:creationId xmlns:a16="http://schemas.microsoft.com/office/drawing/2014/main" id="{DDA14B5C-C6A4-65FB-34DD-E1C0FF465FF7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342681" y="2858625"/>
            <a:ext cx="6011119" cy="333851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buFont typeface="+mj-lt"/>
              <a:buNone/>
              <a:defRPr sz="1800" spc="100" baseline="0"/>
            </a:lvl1pPr>
            <a:lvl2pPr marL="285750" indent="-285750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 spc="100" baseline="0"/>
            </a:lvl2pPr>
            <a:lvl3pPr marL="685800" indent="-285750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 spc="100" baseline="0"/>
            </a:lvl3pPr>
            <a:lvl4pPr marL="1143000" indent="-285750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 spc="100" baseline="0"/>
            </a:lvl4pPr>
            <a:lvl5pPr marL="1600200" indent="-285750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 spc="10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0" name="Date Placeholder 3">
            <a:extLst>
              <a:ext uri="{FF2B5EF4-FFF2-40B4-BE49-F238E27FC236}">
                <a16:creationId xmlns:a16="http://schemas.microsoft.com/office/drawing/2014/main" id="{573EDDB2-8AC2-4A88-95EE-20082E77DEB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spc="100" baseline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41" name="Footer Placeholder 4">
            <a:extLst>
              <a:ext uri="{FF2B5EF4-FFF2-40B4-BE49-F238E27FC236}">
                <a16:creationId xmlns:a16="http://schemas.microsoft.com/office/drawing/2014/main" id="{325A34CF-B8DC-4A28-86BC-8D450E3D3C5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1" i="0" cap="all" spc="100" baseline="0">
                <a:solidFill>
                  <a:schemeClr val="bg2">
                    <a:lumMod val="50000"/>
                  </a:schemeClr>
                </a:solidFill>
                <a:latin typeface="+mj-lt"/>
              </a:defRPr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42" name="Slide Number Placeholder 5">
            <a:extLst>
              <a:ext uri="{FF2B5EF4-FFF2-40B4-BE49-F238E27FC236}">
                <a16:creationId xmlns:a16="http://schemas.microsoft.com/office/drawing/2014/main" id="{3F009426-0603-4EF7-8DE1-0CA50818F7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spc="100" baseline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EA87306C-81BA-4795-A5CA-9392456A8C1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76556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out 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C1E109A-BBBE-498A-AC65-464AAF5710C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766915"/>
            <a:ext cx="2782529" cy="2163098"/>
          </a:xfrm>
          <a:prstGeom prst="rect">
            <a:avLst/>
          </a:prstGeom>
          <a:ln w="28575">
            <a:solidFill>
              <a:schemeClr val="accent2"/>
            </a:solidFill>
          </a:ln>
        </p:spPr>
        <p:txBody>
          <a:bodyPr anchor="ctr"/>
          <a:lstStyle>
            <a:lvl1pPr algn="ctr">
              <a:lnSpc>
                <a:spcPct val="100000"/>
              </a:lnSpc>
              <a:defRPr sz="2400" cap="all" spc="100" baseline="0"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7408009F-7441-4960-8688-598E5537784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864796" y="960385"/>
            <a:ext cx="6341212" cy="1969628"/>
          </a:xfrm>
          <a:prstGeom prst="rect">
            <a:avLst/>
          </a:prstGeom>
        </p:spPr>
        <p:txBody>
          <a:bodyPr anchor="t"/>
          <a:lstStyle>
            <a:lvl1pPr marL="0" indent="0"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buNone/>
              <a:defRPr sz="1800" cap="none" spc="10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0721A019-F5C2-4A15-A6AE-C03209D1D7DB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3716594"/>
            <a:ext cx="12192000" cy="3141406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11" name="Date Placeholder 3">
            <a:extLst>
              <a:ext uri="{FF2B5EF4-FFF2-40B4-BE49-F238E27FC236}">
                <a16:creationId xmlns:a16="http://schemas.microsoft.com/office/drawing/2014/main" id="{CFE1DF53-32D0-456E-8221-7FCD23325DB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spc="100" baseline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DC108F1B-58C5-43B6-8251-B1392CA9A80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1" i="0" cap="all" spc="100" baseline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defRPr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C530B1E0-03D4-4E5B-A2A7-903B17B306C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spc="100" baseline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fld id="{EA87306C-81BA-4795-A5CA-9392456A8C1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12113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inancial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CE5E8994-67B0-7A02-C300-3232691564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532671" y="0"/>
            <a:ext cx="7659329" cy="6858000"/>
          </a:xfrm>
          <a:prstGeom prst="rect">
            <a:avLst/>
          </a:prstGeom>
          <a:solidFill>
            <a:schemeClr val="accent2">
              <a:lumMod val="40000"/>
              <a:lumOff val="6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DD96D4A-16D3-4C35-A383-2DF039D54CF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33791" y="787869"/>
            <a:ext cx="2743200" cy="2142144"/>
          </a:xfrm>
          <a:prstGeom prst="rect">
            <a:avLst/>
          </a:prstGeom>
          <a:ln w="28575">
            <a:solidFill>
              <a:schemeClr val="accent2"/>
            </a:solidFill>
          </a:ln>
        </p:spPr>
        <p:txBody>
          <a:bodyPr anchor="ctr"/>
          <a:lstStyle>
            <a:lvl1pPr algn="ctr">
              <a:lnSpc>
                <a:spcPct val="100000"/>
              </a:lnSpc>
              <a:defRPr sz="2400" cap="all" spc="100" baseline="0"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2EA6B5C4-24E3-C021-071B-DFF6C6CC497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33449" y="3429000"/>
            <a:ext cx="2920796" cy="292735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buNone/>
              <a:defRPr sz="1800" spc="100" baseline="0"/>
            </a:lvl1pPr>
            <a:lvl2pPr marL="457200" indent="0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buNone/>
              <a:defRPr sz="1600" spc="100" baseline="0"/>
            </a:lvl2pPr>
            <a:lvl3pPr marL="914400" indent="0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buNone/>
              <a:defRPr sz="1400" spc="100" baseline="0"/>
            </a:lvl3pPr>
            <a:lvl4pPr marL="1371600" indent="0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buNone/>
              <a:defRPr sz="1200" spc="100" baseline="0"/>
            </a:lvl4pPr>
            <a:lvl5pPr marL="1828800" indent="0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buNone/>
              <a:defRPr sz="1200" spc="10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FF255611-8280-41F3-A5FA-821E144AEAE7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220928" y="787869"/>
            <a:ext cx="6292646" cy="5432263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80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1600" cap="all" baseline="0">
                <a:solidFill>
                  <a:schemeClr val="accent5">
                    <a:lumMod val="50000"/>
                  </a:schemeClr>
                </a:solidFill>
              </a:defRPr>
            </a:lvl2pPr>
            <a:lvl3pPr marL="914400" indent="0">
              <a:buNone/>
              <a:defRPr sz="1400" cap="all" baseline="0">
                <a:solidFill>
                  <a:schemeClr val="accent5">
                    <a:lumMod val="50000"/>
                  </a:schemeClr>
                </a:solidFill>
              </a:defRPr>
            </a:lvl3pPr>
            <a:lvl4pPr marL="1371600" indent="0">
              <a:buNone/>
              <a:defRPr sz="1200" cap="all" baseline="0">
                <a:solidFill>
                  <a:schemeClr val="accent5">
                    <a:lumMod val="50000"/>
                  </a:schemeClr>
                </a:solidFill>
              </a:defRPr>
            </a:lvl4pPr>
            <a:lvl5pPr marL="1828800" indent="0">
              <a:buNone/>
              <a:defRPr sz="1200" cap="all" baseline="0">
                <a:solidFill>
                  <a:schemeClr val="accent5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3453DB9-3C4B-4136-96D2-08A7D5AD418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1464841-801A-499A-BFD2-9731D2D89C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Pitch deck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9C78F9D-CD73-4D53-A871-D6C0B643A6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fld id="{EA87306C-81BA-4795-A5CA-9392456A8C1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88064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ur Competi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41225E-57F6-4605-A684-F9B30F1F664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-10559" y="1"/>
            <a:ext cx="4952999" cy="2182482"/>
          </a:xfrm>
          <a:prstGeom prst="rect">
            <a:avLst/>
          </a:prstGeom>
          <a:solidFill>
            <a:schemeClr val="accent2">
              <a:alpha val="92000"/>
            </a:schemeClr>
          </a:solidFill>
        </p:spPr>
        <p:txBody>
          <a:bodyPr lIns="731520" rIns="731520" anchor="ctr"/>
          <a:lstStyle>
            <a:lvl1pPr algn="ctr">
              <a:defRPr sz="2400" cap="all" spc="1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Picture Placeholder 8">
            <a:extLst>
              <a:ext uri="{FF2B5EF4-FFF2-40B4-BE49-F238E27FC236}">
                <a16:creationId xmlns:a16="http://schemas.microsoft.com/office/drawing/2014/main" id="{C93927AF-DF09-4CE5-8767-B2ECF0215BF5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4942932" y="0"/>
            <a:ext cx="7249067" cy="2182483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E8D114B-8AAB-41D6-AFCF-750066A6529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19728" y="2924355"/>
            <a:ext cx="3769525" cy="3300645"/>
          </a:xfrm>
          <a:prstGeom prst="rect">
            <a:avLst/>
          </a:prstGeom>
        </p:spPr>
        <p:txBody>
          <a:bodyPr anchor="t"/>
          <a:lstStyle>
            <a:lvl1pPr marL="0" indent="0"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buNone/>
              <a:defRPr sz="1800" cap="none" spc="10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6E5C19A-AE6A-FEDE-6B3C-9B1701F4C501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933262" y="2932801"/>
            <a:ext cx="6411912" cy="3300851"/>
          </a:xfrm>
          <a:prstGeom prst="rect">
            <a:avLst/>
          </a:prstGeom>
        </p:spPr>
        <p:txBody>
          <a:bodyPr/>
          <a:lstStyle>
            <a:lvl1pPr marL="283464" indent="-283464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 sz="1800" spc="100" baseline="0"/>
            </a:lvl1pPr>
            <a:lvl2pPr marL="914400" indent="-283464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 sz="1800" spc="100" baseline="0"/>
            </a:lvl2pPr>
            <a:lvl3pPr marL="1371600" indent="-283464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 sz="1800" spc="100" baseline="0"/>
            </a:lvl3pPr>
            <a:lvl4pPr marL="1828800" indent="-283464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 sz="1800" spc="100" baseline="0"/>
            </a:lvl4pPr>
            <a:lvl5pPr marL="2286000" indent="-283464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 sz="1800" spc="10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8751D887-2419-4911-A7CC-9B5A598D71E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spc="100" baseline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B8B214E0-C574-4CE5-8FF0-E0F965A4A0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1" i="0" cap="all" spc="100" baseline="0">
                <a:solidFill>
                  <a:schemeClr val="bg2">
                    <a:lumMod val="50000"/>
                  </a:schemeClr>
                </a:solidFill>
                <a:latin typeface="+mj-lt"/>
              </a:defRPr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6C033920-FB08-49F3-8A75-14E68EF78D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spc="100" baseline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EA87306C-81BA-4795-A5CA-9392456A8C1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195101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A96722F2-1968-8B82-9382-187D808D9C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2170545"/>
          </a:xfrm>
          <a:prstGeom prst="rect">
            <a:avLst/>
          </a:prstGeom>
          <a:solidFill>
            <a:schemeClr val="accent2">
              <a:lumMod val="20000"/>
              <a:lumOff val="8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8F6663C8-5425-48D7-9E9D-F2B794222F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241541"/>
            <a:ext cx="10515600" cy="1215894"/>
          </a:xfrm>
          <a:prstGeom prst="rect">
            <a:avLst/>
          </a:prstGeom>
        </p:spPr>
        <p:txBody>
          <a:bodyPr anchor="b"/>
          <a:lstStyle>
            <a:lvl1pPr algn="ctr">
              <a:defRPr sz="2400" cap="all" spc="100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0" name="Content Placeholder 29">
            <a:extLst>
              <a:ext uri="{FF2B5EF4-FFF2-40B4-BE49-F238E27FC236}">
                <a16:creationId xmlns:a16="http://schemas.microsoft.com/office/drawing/2014/main" id="{E7176063-74EF-4FC1-A687-2F5900412F55}"/>
              </a:ext>
            </a:extLst>
          </p:cNvPr>
          <p:cNvSpPr>
            <a:spLocks noGrp="1"/>
          </p:cNvSpPr>
          <p:nvPr>
            <p:ph sz="quarter" idx="35" hasCustomPrompt="1"/>
          </p:nvPr>
        </p:nvSpPr>
        <p:spPr>
          <a:xfrm>
            <a:off x="859468" y="2674190"/>
            <a:ext cx="10494331" cy="360584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 cap="all" baseline="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9058ECB-2935-45B1-80F1-ED38302C275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8FC42CC-A62B-40E8-907A-F15D7C216F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Pitch deck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33E0735-85DE-48C3-8FE9-0754F9ABD6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A87306C-81BA-4795-A5CA-9392456A8C1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11601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2">
    <p:bg>
      <p:bgPr>
        <a:solidFill>
          <a:schemeClr val="accent5">
            <a:alpha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906EC1-D867-4113-B1E4-72ADCC4B158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30061" y="1541398"/>
            <a:ext cx="4442603" cy="2124827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anchor="ctr"/>
          <a:lstStyle>
            <a:lvl1pPr algn="ctr">
              <a:defRPr sz="2400" cap="all" spc="10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Add title</a:t>
            </a:r>
          </a:p>
        </p:txBody>
      </p:sp>
      <p:sp>
        <p:nvSpPr>
          <p:cNvPr id="38" name="Text Placeholder 10">
            <a:extLst>
              <a:ext uri="{FF2B5EF4-FFF2-40B4-BE49-F238E27FC236}">
                <a16:creationId xmlns:a16="http://schemas.microsoft.com/office/drawing/2014/main" id="{34C23C4D-3C16-4A17-BF8A-A9C4E2F013E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130061" y="3984426"/>
            <a:ext cx="4442603" cy="2424999"/>
          </a:xfrm>
          <a:prstGeom prst="rect">
            <a:avLst/>
          </a:prstGeom>
        </p:spPr>
        <p:txBody>
          <a:bodyPr anchor="t"/>
          <a:lstStyle>
            <a:lvl1pPr marL="0" indent="0" algn="ctr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buNone/>
              <a:defRPr sz="1800" cap="none" spc="10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1" name="Picture Placeholder 8">
            <a:extLst>
              <a:ext uri="{FF2B5EF4-FFF2-40B4-BE49-F238E27FC236}">
                <a16:creationId xmlns:a16="http://schemas.microsoft.com/office/drawing/2014/main" id="{50298920-F98C-4AFF-A39F-BB5644F96EBA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771736" y="0"/>
            <a:ext cx="5420263" cy="68580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to add photo</a:t>
            </a:r>
          </a:p>
        </p:txBody>
      </p:sp>
    </p:spTree>
    <p:extLst>
      <p:ext uri="{BB962C8B-B14F-4D97-AF65-F5344CB8AC3E}">
        <p14:creationId xmlns:p14="http://schemas.microsoft.com/office/powerpoint/2010/main" val="42577993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E02389-643A-44A3-9E32-4459CAEAC35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spc="100" baseline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3E221A-6F27-4890-B073-7BA27B8FB5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1" i="0" cap="all" spc="100" baseline="0">
                <a:solidFill>
                  <a:schemeClr val="bg2">
                    <a:lumMod val="50000"/>
                  </a:schemeClr>
                </a:solidFill>
                <a:latin typeface="+mj-lt"/>
              </a:defRPr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B06CAC-A122-486F-81C6-4299D83E941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spc="100" baseline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EA87306C-81BA-4795-A5CA-9392456A8C1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0113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73" r:id="rId3"/>
    <p:sldLayoutId id="2147483669" r:id="rId4"/>
    <p:sldLayoutId id="2147483651" r:id="rId5"/>
    <p:sldLayoutId id="2147483671" r:id="rId6"/>
    <p:sldLayoutId id="2147483652" r:id="rId7"/>
    <p:sldLayoutId id="2147483653" r:id="rId8"/>
    <p:sldLayoutId id="2147483650" r:id="rId9"/>
    <p:sldLayoutId id="2147483664" r:id="rId10"/>
    <p:sldLayoutId id="2147483659" r:id="rId11"/>
    <p:sldLayoutId id="2147483662" r:id="rId12"/>
    <p:sldLayoutId id="2147483670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Placeholder 4" descr="Close-up of a green field">
            <a:extLst>
              <a:ext uri="{FF2B5EF4-FFF2-40B4-BE49-F238E27FC236}">
                <a16:creationId xmlns:a16="http://schemas.microsoft.com/office/drawing/2014/main" id="{FE4A4B5C-D71A-0CFA-A601-EB93F13F5AA0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alphaModFix amt="50000"/>
          </a:blip>
          <a:srcRect/>
          <a:stretch/>
        </p:blipFill>
        <p:spPr>
          <a:xfrm>
            <a:off x="0" y="-2"/>
            <a:ext cx="12192000" cy="6858000"/>
          </a:xfrm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C0147929-8D39-DAA9-C3C5-4829D9C31C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9909" y="1143000"/>
            <a:ext cx="9792182" cy="3379808"/>
          </a:xfrm>
        </p:spPr>
        <p:txBody>
          <a:bodyPr/>
          <a:lstStyle/>
          <a:p>
            <a:r>
              <a:rPr lang="en-US" dirty="0"/>
              <a:t>Crime Rate and Unemployment Rate</a:t>
            </a:r>
            <a:br>
              <a:rPr lang="en-US" dirty="0"/>
            </a:br>
            <a:r>
              <a:rPr lang="en-US" dirty="0"/>
              <a:t>By </a:t>
            </a:r>
            <a:br>
              <a:rPr lang="en-US" dirty="0"/>
            </a:br>
            <a:r>
              <a:rPr lang="en-US" dirty="0"/>
              <a:t>Matthew Heino</a:t>
            </a:r>
          </a:p>
        </p:txBody>
      </p:sp>
    </p:spTree>
    <p:extLst>
      <p:ext uri="{BB962C8B-B14F-4D97-AF65-F5344CB8AC3E}">
        <p14:creationId xmlns:p14="http://schemas.microsoft.com/office/powerpoint/2010/main" val="17602684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Placeholder 10" descr="A green rolling hills with a sunset">
            <a:extLst>
              <a:ext uri="{FF2B5EF4-FFF2-40B4-BE49-F238E27FC236}">
                <a16:creationId xmlns:a16="http://schemas.microsoft.com/office/drawing/2014/main" id="{565AB0FC-9FCD-FDB2-1D84-F3D855D83877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/>
          <a:srcRect/>
          <a:stretch/>
        </p:blipFill>
        <p:spPr>
          <a:xfrm>
            <a:off x="0" y="0"/>
            <a:ext cx="6772276" cy="6858000"/>
          </a:xfrm>
        </p:spPr>
      </p:pic>
      <p:sp>
        <p:nvSpPr>
          <p:cNvPr id="47" name="Title 46">
            <a:extLst>
              <a:ext uri="{FF2B5EF4-FFF2-40B4-BE49-F238E27FC236}">
                <a16:creationId xmlns:a16="http://schemas.microsoft.com/office/drawing/2014/main" id="{3F9E60C6-15AA-4C95-9519-652CD08A82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4747" y="2365057"/>
            <a:ext cx="4377400" cy="2160644"/>
          </a:xfrm>
        </p:spPr>
        <p:txBody>
          <a:bodyPr/>
          <a:lstStyle/>
          <a:p>
            <a:r>
              <a:rPr lang="en-US" noProof="0" dirty="0"/>
              <a:t>Sections Covered</a:t>
            </a:r>
            <a:endParaRPr lang="en-US" dirty="0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E0E8875C-8FE5-DCE1-106E-5F34DFD1618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9D3AADE-5119-8CE2-0DD5-2BD7E340328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351776" y="2071688"/>
            <a:ext cx="4257612" cy="2732087"/>
          </a:xfrm>
        </p:spPr>
        <p:txBody>
          <a:bodyPr/>
          <a:lstStyle/>
          <a:p>
            <a:r>
              <a:rPr lang="en-US" sz="2000" dirty="0"/>
              <a:t>1. Data</a:t>
            </a:r>
          </a:p>
          <a:p>
            <a:r>
              <a:rPr lang="en-US" sz="2000" dirty="0"/>
              <a:t>2. Project Objectives</a:t>
            </a:r>
          </a:p>
          <a:p>
            <a:r>
              <a:rPr lang="en-US" sz="2000" dirty="0"/>
              <a:t>3. Data Processing and Objectives</a:t>
            </a:r>
          </a:p>
          <a:p>
            <a:r>
              <a:rPr lang="en-US" sz="2000" dirty="0"/>
              <a:t>4. Discussion and Conclusion</a:t>
            </a:r>
          </a:p>
          <a:p>
            <a:r>
              <a:rPr lang="en-US" sz="2000" dirty="0"/>
              <a:t>5. References</a:t>
            </a:r>
          </a:p>
        </p:txBody>
      </p:sp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DA9558D5-EB6D-C2EA-C5E2-7907694485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A87306C-81BA-4795-A5CA-9392456A8C1E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02927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Placeholder 4" descr="A field of wheat with tracks in it">
            <a:extLst>
              <a:ext uri="{FF2B5EF4-FFF2-40B4-BE49-F238E27FC236}">
                <a16:creationId xmlns:a16="http://schemas.microsoft.com/office/drawing/2014/main" id="{5BA975B6-ACDF-974C-4B0A-792DE5F09CB6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alphaModFix amt="50000"/>
          </a:blip>
          <a:srcRect/>
          <a:stretch/>
        </p:blipFill>
        <p:spPr>
          <a:xfrm>
            <a:off x="0" y="-2"/>
            <a:ext cx="12192000" cy="6858000"/>
          </a:xfr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05BF4AF3-2D87-5D1D-245D-49E6F0B09A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9909" y="2335192"/>
            <a:ext cx="9792182" cy="1230968"/>
          </a:xfrm>
        </p:spPr>
        <p:txBody>
          <a:bodyPr/>
          <a:lstStyle/>
          <a:p>
            <a:r>
              <a:rPr lang="en-US" dirty="0"/>
              <a:t>1. Data</a:t>
            </a:r>
          </a:p>
        </p:txBody>
      </p:sp>
    </p:spTree>
    <p:extLst>
      <p:ext uri="{BB962C8B-B14F-4D97-AF65-F5344CB8AC3E}">
        <p14:creationId xmlns:p14="http://schemas.microsoft.com/office/powerpoint/2010/main" val="1710073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54AEBF-73B2-2188-6E43-D85E829780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7238" y="377976"/>
            <a:ext cx="4352081" cy="429768"/>
          </a:xfrm>
        </p:spPr>
        <p:txBody>
          <a:bodyPr/>
          <a:lstStyle/>
          <a:p>
            <a:r>
              <a:rPr lang="en-US" dirty="0">
                <a:latin typeface="Tenorite Display" panose="020F0502020204030204" pitchFamily="2" charset="0"/>
              </a:rPr>
              <a:t>The Data</a:t>
            </a:r>
          </a:p>
        </p:txBody>
      </p:sp>
      <p:pic>
        <p:nvPicPr>
          <p:cNvPr id="7" name="Picture Placeholder 4" descr="A close-up of a field">
            <a:extLst>
              <a:ext uri="{FF2B5EF4-FFF2-40B4-BE49-F238E27FC236}">
                <a16:creationId xmlns:a16="http://schemas.microsoft.com/office/drawing/2014/main" id="{DA3FAC68-747F-999F-4EF5-874B39A6DD5B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2"/>
          <a:srcRect l="234" r="234"/>
          <a:stretch/>
        </p:blipFill>
        <p:spPr>
          <a:xfrm>
            <a:off x="6789480" y="0"/>
            <a:ext cx="5394960" cy="6858000"/>
          </a:xfr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51885A6-2008-15E5-517B-3CBBFE99B11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791700" y="6356350"/>
            <a:ext cx="1562100" cy="365125"/>
          </a:xfrm>
        </p:spPr>
        <p:txBody>
          <a:bodyPr/>
          <a:lstStyle/>
          <a:p>
            <a:fld id="{EA87306C-81BA-4795-A5CA-9392456A8C1E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68B4D92-9FF9-A250-01E7-E70C636733AC}"/>
              </a:ext>
            </a:extLst>
          </p:cNvPr>
          <p:cNvSpPr txBox="1"/>
          <p:nvPr/>
        </p:nvSpPr>
        <p:spPr>
          <a:xfrm>
            <a:off x="475486" y="1091267"/>
            <a:ext cx="5815583" cy="54476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Consisted of three data files: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/>
              <a:t>crime_and_incarceration_by_state.csv</a:t>
            </a:r>
          </a:p>
          <a:p>
            <a:pPr marL="1200150" lvl="2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holds information about crime statistics for each state and other data.  </a:t>
            </a:r>
          </a:p>
          <a:p>
            <a:pPr marL="1200150" lvl="2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composed of 18 different variables 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/>
              <a:t>unemployment_county.csv</a:t>
            </a:r>
          </a:p>
          <a:p>
            <a:pPr marL="1200150" lvl="2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contains data about the unemployment  rate by county 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/>
              <a:t>tl_2019_us_state.shp</a:t>
            </a:r>
          </a:p>
          <a:p>
            <a:pPr marL="1200150" lvl="2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shape file that will be used in the mapping the data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82262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5ABD78-D387-F49E-AB03-93ED700153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Placeholder 4" descr="A field of wheat with tracks in it">
            <a:extLst>
              <a:ext uri="{FF2B5EF4-FFF2-40B4-BE49-F238E27FC236}">
                <a16:creationId xmlns:a16="http://schemas.microsoft.com/office/drawing/2014/main" id="{FE603B08-D39E-7487-A763-A3948CC3D7B9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alphaModFix amt="50000"/>
          </a:blip>
          <a:srcRect/>
          <a:stretch/>
        </p:blipFill>
        <p:spPr>
          <a:xfrm>
            <a:off x="0" y="-2"/>
            <a:ext cx="12192000" cy="6858000"/>
          </a:xfr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CEE2EC66-A350-D50B-A32D-0AFCBC9376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9909" y="2335192"/>
            <a:ext cx="9792182" cy="1230968"/>
          </a:xfrm>
        </p:spPr>
        <p:txBody>
          <a:bodyPr/>
          <a:lstStyle/>
          <a:p>
            <a:r>
              <a:rPr lang="en-US" dirty="0"/>
              <a:t>2. Project Objectives</a:t>
            </a:r>
          </a:p>
        </p:txBody>
      </p:sp>
    </p:spTree>
    <p:extLst>
      <p:ext uri="{BB962C8B-B14F-4D97-AF65-F5344CB8AC3E}">
        <p14:creationId xmlns:p14="http://schemas.microsoft.com/office/powerpoint/2010/main" val="37562036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07F3A4-D70B-6190-7E90-203FCBEC2B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2CB9D3-E2FE-7D26-64C9-28AC936FF9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7238" y="740664"/>
            <a:ext cx="4352081" cy="429768"/>
          </a:xfrm>
        </p:spPr>
        <p:txBody>
          <a:bodyPr/>
          <a:lstStyle/>
          <a:p>
            <a:r>
              <a:rPr lang="en-US" dirty="0"/>
              <a:t>Project Objectives</a:t>
            </a:r>
          </a:p>
        </p:txBody>
      </p:sp>
      <p:pic>
        <p:nvPicPr>
          <p:cNvPr id="7" name="Picture Placeholder 4" descr="A close-up of a field">
            <a:extLst>
              <a:ext uri="{FF2B5EF4-FFF2-40B4-BE49-F238E27FC236}">
                <a16:creationId xmlns:a16="http://schemas.microsoft.com/office/drawing/2014/main" id="{255EA6AC-61EE-AA50-7E13-D5847CF74E30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2"/>
          <a:srcRect l="234" r="234"/>
          <a:stretch/>
        </p:blipFill>
        <p:spPr>
          <a:xfrm>
            <a:off x="6789480" y="0"/>
            <a:ext cx="5394960" cy="6858000"/>
          </a:xfr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FF15290-2D15-A9F5-95B2-CBBF8B034C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791700" y="6356350"/>
            <a:ext cx="1562100" cy="365125"/>
          </a:xfrm>
        </p:spPr>
        <p:txBody>
          <a:bodyPr/>
          <a:lstStyle/>
          <a:p>
            <a:fld id="{EA87306C-81BA-4795-A5CA-9392456A8C1E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AE2519B-2801-0DD4-3F2B-7365D5061168}"/>
              </a:ext>
            </a:extLst>
          </p:cNvPr>
          <p:cNvSpPr txBox="1"/>
          <p:nvPr/>
        </p:nvSpPr>
        <p:spPr>
          <a:xfrm>
            <a:off x="475488" y="1494044"/>
            <a:ext cx="5815583" cy="41952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determine if there is a correlation between the rate of crime and unemployment.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seeks to see if there is an observable correlation that be seen either graphically or seen in a mathematical supported way.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a discussion of the findings. The data topic that will be covered in this project will be the temporal-spatial changes of unemployment rate in the contiguous USA</a:t>
            </a:r>
          </a:p>
        </p:txBody>
      </p:sp>
    </p:spTree>
    <p:extLst>
      <p:ext uri="{BB962C8B-B14F-4D97-AF65-F5344CB8AC3E}">
        <p14:creationId xmlns:p14="http://schemas.microsoft.com/office/powerpoint/2010/main" val="42477201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A7A8DC-5F0B-1057-DEB0-A2E0A018AF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Placeholder 4" descr="A field of wheat with tracks in it">
            <a:extLst>
              <a:ext uri="{FF2B5EF4-FFF2-40B4-BE49-F238E27FC236}">
                <a16:creationId xmlns:a16="http://schemas.microsoft.com/office/drawing/2014/main" id="{5CE77177-84CF-8B37-7E0E-A23533C2944B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alphaModFix amt="50000"/>
          </a:blip>
          <a:srcRect/>
          <a:stretch/>
        </p:blipFill>
        <p:spPr>
          <a:xfrm>
            <a:off x="0" y="-2"/>
            <a:ext cx="12192000" cy="6858000"/>
          </a:xfr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2DE263B0-F785-FA29-D3AF-466196A938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0976" y="2335192"/>
            <a:ext cx="10041115" cy="1450424"/>
          </a:xfrm>
        </p:spPr>
        <p:txBody>
          <a:bodyPr/>
          <a:lstStyle/>
          <a:p>
            <a:r>
              <a:rPr lang="en-US" dirty="0"/>
              <a:t>3. Data Processing and Objectives</a:t>
            </a:r>
          </a:p>
        </p:txBody>
      </p:sp>
    </p:spTree>
    <p:extLst>
      <p:ext uri="{BB962C8B-B14F-4D97-AF65-F5344CB8AC3E}">
        <p14:creationId xmlns:p14="http://schemas.microsoft.com/office/powerpoint/2010/main" val="25547317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5D4B21-0EE6-F90E-21F9-DDC7F6E949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FEABE1-8FCA-2801-E36F-4072263EB3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9537" y="128016"/>
            <a:ext cx="4352081" cy="649224"/>
          </a:xfrm>
        </p:spPr>
        <p:txBody>
          <a:bodyPr/>
          <a:lstStyle/>
          <a:p>
            <a:r>
              <a:rPr lang="en-US" dirty="0"/>
              <a:t>Data Processing and Objectives</a:t>
            </a:r>
          </a:p>
        </p:txBody>
      </p:sp>
      <p:pic>
        <p:nvPicPr>
          <p:cNvPr id="7" name="Picture Placeholder 4" descr="A close-up of a field">
            <a:extLst>
              <a:ext uri="{FF2B5EF4-FFF2-40B4-BE49-F238E27FC236}">
                <a16:creationId xmlns:a16="http://schemas.microsoft.com/office/drawing/2014/main" id="{57FC0F91-6B13-E0BF-C0B5-BC3D3632BC42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2"/>
          <a:srcRect l="234" r="234"/>
          <a:stretch/>
        </p:blipFill>
        <p:spPr>
          <a:xfrm>
            <a:off x="6789480" y="0"/>
            <a:ext cx="5394960" cy="6858000"/>
          </a:xfr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5D78201-3BAE-1D62-BFCB-60E5CED2777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791700" y="6356350"/>
            <a:ext cx="1562100" cy="365125"/>
          </a:xfrm>
        </p:spPr>
        <p:txBody>
          <a:bodyPr/>
          <a:lstStyle/>
          <a:p>
            <a:fld id="{EA87306C-81BA-4795-A5CA-9392456A8C1E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B2D117F-A0B6-C4E9-F457-9723F779CDDB}"/>
              </a:ext>
            </a:extLst>
          </p:cNvPr>
          <p:cNvSpPr txBox="1"/>
          <p:nvPr/>
        </p:nvSpPr>
        <p:spPr>
          <a:xfrm>
            <a:off x="301752" y="886968"/>
            <a:ext cx="6099047" cy="59086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dirty="0"/>
              <a:t>Steps that followed to prepare the data for analysis: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Read the data from the CSV files into individual data frames. Section: 3.0.1 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Remove the parts of the United States that are not contiguous. Section: 3.0.2 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Process the unemployment rate data. Section: 3.0.3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Process the crime rate data. Section: 3.0.4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Join relational tables. Section: 3.0.6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Save the final combined and cleaned data. Section: 3.0.7</a:t>
            </a:r>
          </a:p>
          <a:p>
            <a:pPr>
              <a:lnSpc>
                <a:spcPct val="150000"/>
              </a:lnSpc>
            </a:pPr>
            <a:endParaRPr lang="en-US" sz="1200" b="1" dirty="0"/>
          </a:p>
          <a:p>
            <a:pPr>
              <a:lnSpc>
                <a:spcPct val="150000"/>
              </a:lnSpc>
            </a:pPr>
            <a:r>
              <a:rPr lang="en-US" sz="1200" b="1" dirty="0"/>
              <a:t>Note</a:t>
            </a:r>
            <a:r>
              <a:rPr lang="en-US" sz="1200" dirty="0"/>
              <a:t>: The sections at the end of the bullet refer to the section of the RMD file that accompanies this PowerPoint presentation.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69721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9CF019-FF24-5DD6-3043-9654E627D6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A9936D-0B0A-D162-972E-4B2F3BA9D8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9537" y="128016"/>
            <a:ext cx="4352081" cy="649224"/>
          </a:xfrm>
        </p:spPr>
        <p:txBody>
          <a:bodyPr/>
          <a:lstStyle/>
          <a:p>
            <a:r>
              <a:rPr lang="en-US" dirty="0"/>
              <a:t>Data Processing and Objectives</a:t>
            </a:r>
          </a:p>
        </p:txBody>
      </p:sp>
      <p:pic>
        <p:nvPicPr>
          <p:cNvPr id="7" name="Picture Placeholder 4" descr="A close-up of a field">
            <a:extLst>
              <a:ext uri="{FF2B5EF4-FFF2-40B4-BE49-F238E27FC236}">
                <a16:creationId xmlns:a16="http://schemas.microsoft.com/office/drawing/2014/main" id="{FC5C6659-4504-3A87-2800-A69D4F5E8AF9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2"/>
          <a:srcRect l="234" r="234"/>
          <a:stretch/>
        </p:blipFill>
        <p:spPr>
          <a:xfrm>
            <a:off x="7680960" y="0"/>
            <a:ext cx="4503480" cy="6858000"/>
          </a:xfr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7E8E0A1-B573-51C8-D732-2D327F0D44A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791700" y="6356350"/>
            <a:ext cx="1562100" cy="365125"/>
          </a:xfrm>
        </p:spPr>
        <p:txBody>
          <a:bodyPr/>
          <a:lstStyle/>
          <a:p>
            <a:fld id="{EA87306C-81BA-4795-A5CA-9392456A8C1E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9110BA2-868F-3519-9BE1-699174ED5113}"/>
              </a:ext>
            </a:extLst>
          </p:cNvPr>
          <p:cNvSpPr txBox="1"/>
          <p:nvPr/>
        </p:nvSpPr>
        <p:spPr>
          <a:xfrm>
            <a:off x="301752" y="886968"/>
            <a:ext cx="6099047" cy="32309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dirty="0"/>
              <a:t>Read the data from the CSV files into individual data frames. Section: 3.0.1 :</a:t>
            </a:r>
          </a:p>
          <a:p>
            <a:pPr>
              <a:lnSpc>
                <a:spcPct val="150000"/>
              </a:lnSpc>
            </a:pPr>
            <a:r>
              <a:rPr lang="en-US" sz="2000" dirty="0"/>
              <a:t>The </a:t>
            </a:r>
            <a:r>
              <a:rPr lang="en-US" sz="2000" b="1" dirty="0"/>
              <a:t>unemployment_county.csv </a:t>
            </a:r>
            <a:r>
              <a:rPr lang="en-US" sz="2000" dirty="0"/>
              <a:t>had the following layout:</a:t>
            </a:r>
          </a:p>
          <a:p>
            <a:pPr>
              <a:lnSpc>
                <a:spcPct val="150000"/>
              </a:lnSpc>
            </a:pPr>
            <a:endParaRPr lang="en-US" sz="20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6CC6907-6D1C-A538-6586-885F80BCC1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9016" y="2730937"/>
            <a:ext cx="6367544" cy="247064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E442D9E-8D67-1FA6-B25B-A5F2F869DCF1}"/>
              </a:ext>
            </a:extLst>
          </p:cNvPr>
          <p:cNvSpPr txBox="1"/>
          <p:nvPr/>
        </p:nvSpPr>
        <p:spPr>
          <a:xfrm>
            <a:off x="582167" y="5295477"/>
            <a:ext cx="55382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Table 3.2: Unemployment Rate</a:t>
            </a:r>
          </a:p>
        </p:txBody>
      </p:sp>
    </p:spTree>
    <p:extLst>
      <p:ext uri="{BB962C8B-B14F-4D97-AF65-F5344CB8AC3E}">
        <p14:creationId xmlns:p14="http://schemas.microsoft.com/office/powerpoint/2010/main" val="19123225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673202-A2DB-0F98-D096-3C14402D71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C22CF3-AD8B-FFC7-D6B8-7B4B8CD6CE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9537" y="128016"/>
            <a:ext cx="4352081" cy="649224"/>
          </a:xfrm>
        </p:spPr>
        <p:txBody>
          <a:bodyPr/>
          <a:lstStyle/>
          <a:p>
            <a:r>
              <a:rPr lang="en-US" dirty="0"/>
              <a:t>Data Processing and Objectives</a:t>
            </a:r>
          </a:p>
        </p:txBody>
      </p:sp>
      <p:pic>
        <p:nvPicPr>
          <p:cNvPr id="7" name="Picture Placeholder 4" descr="A close-up of a field">
            <a:extLst>
              <a:ext uri="{FF2B5EF4-FFF2-40B4-BE49-F238E27FC236}">
                <a16:creationId xmlns:a16="http://schemas.microsoft.com/office/drawing/2014/main" id="{6667595F-804E-AE1B-4E50-F5AF12C489E1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2"/>
          <a:srcRect l="234" r="234"/>
          <a:stretch/>
        </p:blipFill>
        <p:spPr>
          <a:xfrm>
            <a:off x="8668512" y="0"/>
            <a:ext cx="3515928" cy="6858000"/>
          </a:xfr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3486B0-F527-5932-19A9-F4FA6E1A50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791700" y="6356350"/>
            <a:ext cx="1562100" cy="365125"/>
          </a:xfrm>
        </p:spPr>
        <p:txBody>
          <a:bodyPr/>
          <a:lstStyle/>
          <a:p>
            <a:fld id="{EA87306C-81BA-4795-A5CA-9392456A8C1E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0C83129-F06B-85EB-8A20-31289B0301D1}"/>
              </a:ext>
            </a:extLst>
          </p:cNvPr>
          <p:cNvSpPr txBox="1"/>
          <p:nvPr/>
        </p:nvSpPr>
        <p:spPr>
          <a:xfrm>
            <a:off x="301752" y="886968"/>
            <a:ext cx="6309360" cy="21229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/>
              <a:t>Read the data from the CSV files into individual data frames. Section: 3.0.1 :</a:t>
            </a:r>
          </a:p>
          <a:p>
            <a:pPr>
              <a:lnSpc>
                <a:spcPct val="150000"/>
              </a:lnSpc>
            </a:pPr>
            <a:r>
              <a:rPr lang="en-US" dirty="0"/>
              <a:t>The </a:t>
            </a:r>
            <a:r>
              <a:rPr lang="en-US" b="1" dirty="0"/>
              <a:t>crime_and_incarceration_by_state </a:t>
            </a:r>
            <a:r>
              <a:rPr lang="en-US" dirty="0"/>
              <a:t>had the following layout (Table 3.2 Crime and Incarceration by State) :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5BD354F-D293-0A7F-A551-FC5ACD6C6F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385" y="2841134"/>
            <a:ext cx="6940296" cy="3515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46963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9723F6-BC16-F014-653B-73FAFC781F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4DAB1F-5B85-738F-3573-8BE39E2122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9537" y="128016"/>
            <a:ext cx="4352081" cy="649224"/>
          </a:xfrm>
        </p:spPr>
        <p:txBody>
          <a:bodyPr/>
          <a:lstStyle/>
          <a:p>
            <a:r>
              <a:rPr lang="en-US" dirty="0"/>
              <a:t>Data Processing and Objectives</a:t>
            </a:r>
          </a:p>
        </p:txBody>
      </p:sp>
      <p:pic>
        <p:nvPicPr>
          <p:cNvPr id="7" name="Picture Placeholder 4" descr="A close-up of a field">
            <a:extLst>
              <a:ext uri="{FF2B5EF4-FFF2-40B4-BE49-F238E27FC236}">
                <a16:creationId xmlns:a16="http://schemas.microsoft.com/office/drawing/2014/main" id="{146250B2-0414-403D-41C2-DEB8F55D894F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2"/>
          <a:srcRect l="234" r="234"/>
          <a:stretch/>
        </p:blipFill>
        <p:spPr>
          <a:xfrm>
            <a:off x="8668512" y="0"/>
            <a:ext cx="3515928" cy="6858000"/>
          </a:xfr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81E562B-CA27-D77A-0504-0BE0F0C58E5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791700" y="6356350"/>
            <a:ext cx="1562100" cy="365125"/>
          </a:xfrm>
        </p:spPr>
        <p:txBody>
          <a:bodyPr/>
          <a:lstStyle/>
          <a:p>
            <a:fld id="{EA87306C-81BA-4795-A5CA-9392456A8C1E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85B2636-F652-482D-2DBB-568A6888BC3C}"/>
              </a:ext>
            </a:extLst>
          </p:cNvPr>
          <p:cNvSpPr txBox="1"/>
          <p:nvPr/>
        </p:nvSpPr>
        <p:spPr>
          <a:xfrm>
            <a:off x="301752" y="886969"/>
            <a:ext cx="7040880" cy="21229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/>
              <a:t>Read the data from the CSV files into individual data frames. Section: 3.0.1 :</a:t>
            </a:r>
          </a:p>
          <a:p>
            <a:pPr>
              <a:lnSpc>
                <a:spcPct val="150000"/>
              </a:lnSpc>
            </a:pPr>
            <a:r>
              <a:rPr lang="en-US" dirty="0"/>
              <a:t>The </a:t>
            </a:r>
            <a:r>
              <a:rPr lang="en-US" b="1" dirty="0"/>
              <a:t>t1_2019_us_state.shp </a:t>
            </a:r>
            <a:r>
              <a:rPr lang="en-US" dirty="0"/>
              <a:t>had the following layout (Table 3.2: States)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40FBE68-D90B-2634-777A-ADB08C5D28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4618" y="2761435"/>
            <a:ext cx="6317742" cy="2935276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466068F2-CD3E-DE95-E4AD-5737529C8535}"/>
              </a:ext>
            </a:extLst>
          </p:cNvPr>
          <p:cNvSpPr txBox="1"/>
          <p:nvPr/>
        </p:nvSpPr>
        <p:spPr>
          <a:xfrm>
            <a:off x="364618" y="5867253"/>
            <a:ext cx="504748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Note</a:t>
            </a:r>
            <a:r>
              <a:rPr lang="en-US" dirty="0"/>
              <a:t>: </a:t>
            </a:r>
            <a:r>
              <a:rPr lang="en-US" sz="1200" dirty="0"/>
              <a:t>This image does not contain all the data that was in the file.  It only contains the first ten rows of data.</a:t>
            </a:r>
          </a:p>
        </p:txBody>
      </p:sp>
    </p:spTree>
    <p:extLst>
      <p:ext uri="{BB962C8B-B14F-4D97-AF65-F5344CB8AC3E}">
        <p14:creationId xmlns:p14="http://schemas.microsoft.com/office/powerpoint/2010/main" val="32949507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FD0FD9-2656-80A5-3CC8-A7CB71201E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Placeholder 4" descr="A field of wheat with tracks in it">
            <a:extLst>
              <a:ext uri="{FF2B5EF4-FFF2-40B4-BE49-F238E27FC236}">
                <a16:creationId xmlns:a16="http://schemas.microsoft.com/office/drawing/2014/main" id="{0654B1CA-41F2-3F44-29B0-1F76D734A399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alphaModFix amt="50000"/>
          </a:blip>
          <a:srcRect/>
          <a:stretch/>
        </p:blipFill>
        <p:spPr>
          <a:xfrm>
            <a:off x="0" y="-2"/>
            <a:ext cx="12192000" cy="6858000"/>
          </a:xfr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4A8FB9DE-CBED-5EC8-3FCA-7092C95836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0976" y="2335192"/>
            <a:ext cx="10041115" cy="1450424"/>
          </a:xfrm>
        </p:spPr>
        <p:txBody>
          <a:bodyPr/>
          <a:lstStyle/>
          <a:p>
            <a:r>
              <a:rPr lang="en-US" dirty="0"/>
              <a:t>Processing</a:t>
            </a:r>
          </a:p>
        </p:txBody>
      </p:sp>
    </p:spTree>
    <p:extLst>
      <p:ext uri="{BB962C8B-B14F-4D97-AF65-F5344CB8AC3E}">
        <p14:creationId xmlns:p14="http://schemas.microsoft.com/office/powerpoint/2010/main" val="15062131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381953-59B6-BA9F-4279-105465AEE2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0DDB78-8474-3D6A-907F-867CBBAB59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9537" y="128016"/>
            <a:ext cx="4352081" cy="649224"/>
          </a:xfrm>
        </p:spPr>
        <p:txBody>
          <a:bodyPr/>
          <a:lstStyle/>
          <a:p>
            <a:r>
              <a:rPr lang="en-US"/>
              <a:t>Processing</a:t>
            </a:r>
            <a:endParaRPr lang="en-US" dirty="0"/>
          </a:p>
        </p:txBody>
      </p:sp>
      <p:pic>
        <p:nvPicPr>
          <p:cNvPr id="7" name="Picture Placeholder 4" descr="A close-up of a field">
            <a:extLst>
              <a:ext uri="{FF2B5EF4-FFF2-40B4-BE49-F238E27FC236}">
                <a16:creationId xmlns:a16="http://schemas.microsoft.com/office/drawing/2014/main" id="{E74AE73C-CA8E-FD09-9725-29FB99558FA7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2"/>
          <a:srcRect l="234" r="234"/>
          <a:stretch/>
        </p:blipFill>
        <p:spPr>
          <a:xfrm>
            <a:off x="6789480" y="0"/>
            <a:ext cx="5394960" cy="6858000"/>
          </a:xfr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BCDE1E-67BF-7936-6F8D-D13891E2872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791700" y="6356350"/>
            <a:ext cx="1562100" cy="365125"/>
          </a:xfrm>
        </p:spPr>
        <p:txBody>
          <a:bodyPr/>
          <a:lstStyle/>
          <a:p>
            <a:fld id="{EA87306C-81BA-4795-A5CA-9392456A8C1E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8D44ADB-3311-0970-B457-8F29C7EC1933}"/>
              </a:ext>
            </a:extLst>
          </p:cNvPr>
          <p:cNvSpPr txBox="1"/>
          <p:nvPr/>
        </p:nvSpPr>
        <p:spPr>
          <a:xfrm>
            <a:off x="301752" y="886968"/>
            <a:ext cx="6099047" cy="615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endParaRPr lang="en-US" sz="1200" b="1" dirty="0"/>
          </a:p>
          <a:p>
            <a:pPr>
              <a:lnSpc>
                <a:spcPct val="150000"/>
              </a:lnSpc>
            </a:pPr>
            <a:r>
              <a:rPr lang="en-US" sz="1200" b="1" dirty="0"/>
              <a:t>Note</a:t>
            </a:r>
            <a:r>
              <a:rPr lang="en-US" sz="1200" dirty="0"/>
              <a:t>: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4574002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19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B4D0E9"/>
      </a:accent1>
      <a:accent2>
        <a:srgbClr val="476977"/>
      </a:accent2>
      <a:accent3>
        <a:srgbClr val="79BBE9"/>
      </a:accent3>
      <a:accent4>
        <a:srgbClr val="6B8043"/>
      </a:accent4>
      <a:accent5>
        <a:srgbClr val="9ACF21"/>
      </a:accent5>
      <a:accent6>
        <a:srgbClr val="CFDCA5"/>
      </a:accent6>
      <a:hlink>
        <a:srgbClr val="0563C1"/>
      </a:hlink>
      <a:folHlink>
        <a:srgbClr val="954F72"/>
      </a:folHlink>
    </a:clrScheme>
    <a:fontScheme name="Custom 26">
      <a:majorFont>
        <a:latin typeface="Tenorite Bold"/>
        <a:ea typeface=""/>
        <a:cs typeface=""/>
      </a:majorFont>
      <a:minorFont>
        <a:latin typeface="Tenorite 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16411175_Win32_SL_V6" id="{2596AF0E-92BF-4F5A-A2A1-B1C9D33CD0CE}" vid="{0709752F-9199-467A-B305-5274ECB683C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E9424615-5FE5-4F43-AE24-3BC9A0532687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AF19A644-6410-4EC7-894C-877E70305DFF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15AD180A-D253-4F84-BD24-8EE736E6553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{7B0E4500-7FE0-49B7-873F-CCAD900C3FEB}tf16411175_win32</Template>
  <TotalTime>48</TotalTime>
  <Words>443</Words>
  <Application>Microsoft Office PowerPoint</Application>
  <PresentationFormat>Widescreen</PresentationFormat>
  <Paragraphs>57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Arial</vt:lpstr>
      <vt:lpstr>Calibri</vt:lpstr>
      <vt:lpstr>Tenorite </vt:lpstr>
      <vt:lpstr>Tenorite Bold</vt:lpstr>
      <vt:lpstr>Tenorite Display</vt:lpstr>
      <vt:lpstr>Custom</vt:lpstr>
      <vt:lpstr>Crime Rate and Unemployment Rate By  Matthew Heino</vt:lpstr>
      <vt:lpstr>Sections Covered</vt:lpstr>
      <vt:lpstr>1. Data</vt:lpstr>
      <vt:lpstr>The Data</vt:lpstr>
      <vt:lpstr>2. Project Objectives</vt:lpstr>
      <vt:lpstr>Project Objectives</vt:lpstr>
      <vt:lpstr>3. Data Processing and Objectives</vt:lpstr>
      <vt:lpstr>Data Processing and Objectives</vt:lpstr>
      <vt:lpstr>Data Processing and Objectives</vt:lpstr>
      <vt:lpstr>Data Processing and Objectives</vt:lpstr>
      <vt:lpstr>Data Processing and Objectives</vt:lpstr>
      <vt:lpstr>Processing</vt:lpstr>
      <vt:lpstr>Processing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Heino, Matthew</dc:creator>
  <cp:lastModifiedBy>Heino, Matthew</cp:lastModifiedBy>
  <cp:revision>31</cp:revision>
  <dcterms:created xsi:type="dcterms:W3CDTF">2025-03-19T19:36:08Z</dcterms:created>
  <dcterms:modified xsi:type="dcterms:W3CDTF">2025-03-19T20:26:06Z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