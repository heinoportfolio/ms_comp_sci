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310" r:id="rId5"/>
    <p:sldId id="309" r:id="rId6"/>
    <p:sldId id="311" r:id="rId7"/>
    <p:sldId id="312" r:id="rId8"/>
    <p:sldId id="313" r:id="rId9"/>
    <p:sldId id="314" r:id="rId10"/>
    <p:sldId id="315" r:id="rId11"/>
    <p:sldId id="316" r:id="rId12"/>
    <p:sldId id="317" r:id="rId13"/>
    <p:sldId id="318" r:id="rId14"/>
    <p:sldId id="319" r:id="rId15"/>
    <p:sldId id="320" r:id="rId16"/>
    <p:sldId id="321" r:id="rId17"/>
    <p:sldId id="326" r:id="rId18"/>
    <p:sldId id="324" r:id="rId19"/>
    <p:sldId id="325" r:id="rId20"/>
    <p:sldId id="323" r:id="rId21"/>
    <p:sldId id="32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AE8"/>
    <a:srgbClr val="4769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5394" autoAdjust="0"/>
  </p:normalViewPr>
  <p:slideViewPr>
    <p:cSldViewPr snapToGrid="0">
      <p:cViewPr varScale="1">
        <p:scale>
          <a:sx n="105" d="100"/>
          <a:sy n="105" d="100"/>
        </p:scale>
        <p:origin x="996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AA3114B-0CDD-4419-A4DE-E0C29A2AE1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C25048-78D1-4821-8E2B-7A77CCA12F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52186-C111-43A8-A0F7-F77FFDE4DF82}" type="datetimeFigureOut">
              <a:rPr lang="en-US" smtClean="0"/>
              <a:t>3/19/2025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924695-047D-4CC8-8801-1AA37457E7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F00293-63F6-438D-A9A8-024975FD5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56CFAD-C154-4C9C-AD01-665A505506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8791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2BBB5B-F3DE-41D7-B279-483D20E8E363}" type="datetimeFigureOut">
              <a:rPr lang="en-US" smtClean="0"/>
              <a:t>3/19/2025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B62BC0-7DC4-4569-951D-2BB9475345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641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lIns="914400" tIns="91440" rIns="914400" anchor="ctr"/>
          <a:lstStyle>
            <a:lvl1pPr algn="ctr">
              <a:defRPr sz="5400" b="1" cap="all" spc="1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148328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6772276" cy="6858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747" y="2365057"/>
            <a:ext cx="4377400" cy="2160644"/>
          </a:xfrm>
          <a:prstGeom prst="rect">
            <a:avLst/>
          </a:prstGeom>
          <a:gradFill>
            <a:gsLst>
              <a:gs pos="5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accent5">
                  <a:alpha val="10000"/>
                </a:schemeClr>
              </a:gs>
            </a:gsLst>
            <a:lin ang="0" scaled="0"/>
          </a:gradFill>
          <a:ln w="28575">
            <a:solidFill>
              <a:schemeClr val="bg1"/>
            </a:solidFill>
          </a:ln>
        </p:spPr>
        <p:txBody>
          <a:bodyPr anchor="ctr"/>
          <a:lstStyle>
            <a:lvl1pPr algn="ctr">
              <a:defRPr sz="2400" cap="all" spc="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B3EFFF7-FFC6-16DF-B4AB-DD5A1A1DA9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27896" y="0"/>
            <a:ext cx="3344379" cy="6858000"/>
          </a:xfrm>
          <a:custGeom>
            <a:avLst/>
            <a:gdLst>
              <a:gd name="connsiteX0" fmla="*/ 0 w 3344379"/>
              <a:gd name="connsiteY0" fmla="*/ 0 h 6858000"/>
              <a:gd name="connsiteX1" fmla="*/ 3344379 w 3344379"/>
              <a:gd name="connsiteY1" fmla="*/ 0 h 6858000"/>
              <a:gd name="connsiteX2" fmla="*/ 3344379 w 3344379"/>
              <a:gd name="connsiteY2" fmla="*/ 6858000 h 6858000"/>
              <a:gd name="connsiteX3" fmla="*/ 0 w 3344379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4379" h="6858000">
                <a:moveTo>
                  <a:pt x="0" y="0"/>
                </a:moveTo>
                <a:lnTo>
                  <a:pt x="3344379" y="0"/>
                </a:lnTo>
                <a:lnTo>
                  <a:pt x="334437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5">
              <a:alpha val="10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>
                <a:noFill/>
              </a:defRPr>
            </a:lvl1pPr>
          </a:lstStyle>
          <a:p>
            <a:pPr lvl="0"/>
            <a:r>
              <a:rPr lang="en-US" dirty="0"/>
              <a:t>Blank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E6E802E-B214-0AE3-69C8-CBCA885C70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35900" y="2071688"/>
            <a:ext cx="3773488" cy="273208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0398655-42A6-4DBC-9542-9A8D10B44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159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FF7C44B-1689-4CA8-B0BC-0671EA127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effectLst/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D6105C8-7607-448C-9CD2-9CA33B49B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423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2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lIns="914400" tIns="182880" rIns="914400" anchor="ctr"/>
          <a:lstStyle>
            <a:lvl1pPr algn="ctr">
              <a:defRPr sz="5400" b="1" cap="all" spc="100" baseline="0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3712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CC6C658-B6F5-98D2-4D95-EA3030D6F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0322" y="-7084"/>
            <a:ext cx="12212321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50065" y="2372810"/>
            <a:ext cx="4352081" cy="2129742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anchor="ctr"/>
          <a:lstStyle>
            <a:lvl1pPr algn="ctr">
              <a:defRPr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789480" y="0"/>
            <a:ext cx="5394960" cy="6858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5" name="Date Placeholder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333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3FAF69-7EBE-817B-DCEA-4A1595820E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7515"/>
            <a:ext cx="4661648" cy="6871651"/>
          </a:xfrm>
          <a:prstGeom prst="rect">
            <a:avLst/>
          </a:prstGeom>
          <a:solidFill>
            <a:srgbClr val="4769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0FC4D-FDE2-42C3-B907-27B071B649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6608" y="804862"/>
            <a:ext cx="3401992" cy="5121375"/>
          </a:xfrm>
          <a:prstGeom prst="rect">
            <a:avLst/>
          </a:prstGeom>
          <a:ln w="28575">
            <a:noFill/>
          </a:ln>
        </p:spPr>
        <p:txBody>
          <a:bodyPr anchor="ctr"/>
          <a:lstStyle>
            <a:lvl1pPr algn="ctr">
              <a:defRPr sz="2400" cap="all" spc="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4F9403-8AE5-DF79-EFCF-E99EABB8341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79338" y="804863"/>
            <a:ext cx="5716587" cy="5248276"/>
          </a:xfrm>
          <a:prstGeom prst="rect">
            <a:avLst/>
          </a:prstGeom>
        </p:spPr>
        <p:txBody>
          <a:bodyPr anchor="ctr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/>
            </a:lvl1pPr>
            <a:lvl2pPr marL="73152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 marL="109728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 marL="146304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 marL="1828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38E30C9-543F-4532-B571-2F2EF52E7A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9E2F8B6B-A63E-448F-86E5-CF3F12A29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5EC1D779-DE8A-45DF-9A79-70F63DD68B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491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47727" y="2060294"/>
            <a:ext cx="4359795" cy="2141316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anchor="ctr"/>
          <a:lstStyle>
            <a:lvl1pPr algn="ctr">
              <a:defRPr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-9009"/>
            <a:ext cx="5521124" cy="687858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F20D097E-45D7-422E-A8D1-635C7DE9A9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70878" y="4550199"/>
            <a:ext cx="4359795" cy="1790164"/>
          </a:xfrm>
          <a:prstGeom prst="rect">
            <a:avLst/>
          </a:prstGeom>
        </p:spPr>
        <p:txBody>
          <a:bodyPr anchor="t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800" b="1" cap="all" spc="100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5" name="Date Placeholder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91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A5AC9-F6E1-46F9-8810-475475E17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34980" y="706056"/>
            <a:ext cx="6323957" cy="1088020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anchor="ctr"/>
          <a:lstStyle>
            <a:lvl1pPr algn="ctr">
              <a:defRPr sz="2400" cap="all" spc="10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2C02D9-C262-43C0-BE24-402661B059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4495801" cy="6858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C3273F-AE8F-21E6-A06E-52686D6549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35563" y="2291786"/>
            <a:ext cx="3017837" cy="39672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A011C768-FB8E-F917-0CF9-C9B7DA4CAA6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473281" y="2294680"/>
            <a:ext cx="3136127" cy="39672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sz="1800" spc="10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61AB9D5A-1951-48B0-9CAE-84FC869BE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3AEF9F4B-0EB4-4C9F-9159-80E393F3A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6BC4F905-196D-4DFF-9947-C56088B56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209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FD970D0-182D-96E3-04B5-5D634F9C4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AEFB40-063A-41A7-9581-865BBE62C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26143"/>
            <a:ext cx="10515600" cy="1229033"/>
          </a:xfrm>
          <a:prstGeom prst="rect">
            <a:avLst/>
          </a:prstGeom>
        </p:spPr>
        <p:txBody>
          <a:bodyPr anchor="b"/>
          <a:lstStyle>
            <a:lvl1pPr algn="ctr">
              <a:defRPr sz="2400" cap="all" spc="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453354-6167-7227-F443-F984688CC4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49775" y="2858625"/>
            <a:ext cx="3941763" cy="3338513"/>
          </a:xfrm>
          <a:prstGeom prst="rect">
            <a:avLst/>
          </a:prstGeom>
        </p:spPr>
        <p:txBody>
          <a:bodyPr/>
          <a:lstStyle>
            <a:lvl1pPr marL="347472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spc="100" baseline="0"/>
            </a:lvl1pPr>
            <a:lvl2pPr marL="6858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eriod"/>
              <a:defRPr sz="1600" spc="100" baseline="0"/>
            </a:lvl2pPr>
            <a:lvl3pPr marL="11430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arenR"/>
              <a:defRPr sz="1400" spc="100" baseline="0"/>
            </a:lvl3pPr>
            <a:lvl4pPr marL="16002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arenR"/>
              <a:defRPr sz="1200" spc="100" baseline="0"/>
            </a:lvl4pPr>
            <a:lvl5pPr marL="20574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romanLcPeriod"/>
              <a:defRPr sz="1200" spc="10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DDA14B5C-C6A4-65FB-34DD-E1C0FF465F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42681" y="2858625"/>
            <a:ext cx="6011119" cy="33385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None/>
              <a:defRPr sz="1800" spc="100" baseline="0"/>
            </a:lvl1pPr>
            <a:lvl2pPr marL="28575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spc="100" baseline="0"/>
            </a:lvl2pPr>
            <a:lvl3pPr marL="6858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spc="100" baseline="0"/>
            </a:lvl3pPr>
            <a:lvl4pPr marL="11430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spc="100" baseline="0"/>
            </a:lvl4pPr>
            <a:lvl5pPr marL="16002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spc="10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0" name="Date Placeholder 3">
            <a:extLst>
              <a:ext uri="{FF2B5EF4-FFF2-40B4-BE49-F238E27FC236}">
                <a16:creationId xmlns:a16="http://schemas.microsoft.com/office/drawing/2014/main" id="{573EDDB2-8AC2-4A88-95EE-20082E77D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1" name="Footer Placeholder 4">
            <a:extLst>
              <a:ext uri="{FF2B5EF4-FFF2-40B4-BE49-F238E27FC236}">
                <a16:creationId xmlns:a16="http://schemas.microsoft.com/office/drawing/2014/main" id="{325A34CF-B8DC-4A28-86BC-8D450E3D3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3F009426-0603-4EF7-8DE1-0CA50818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655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1E109A-BBBE-498A-AC65-464AAF571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66915"/>
            <a:ext cx="2782529" cy="21630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anchor="ctr"/>
          <a:lstStyle>
            <a:lvl1pPr algn="ctr">
              <a:lnSpc>
                <a:spcPct val="100000"/>
              </a:lnSpc>
              <a:defRPr sz="2400" cap="all" spc="10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408009F-7441-4960-8688-598E5537784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4796" y="960385"/>
            <a:ext cx="6341212" cy="19696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721A019-F5C2-4A15-A6AE-C03209D1D7D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716594"/>
            <a:ext cx="12192000" cy="314140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CFE1DF53-32D0-456E-8221-7FCD23325D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DC108F1B-58C5-43B6-8251-B1392CA9A8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530B1E0-03D4-4E5B-A2A7-903B17B30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211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5E8994-67B0-7A02-C300-323269156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32671" y="0"/>
            <a:ext cx="7659329" cy="6858000"/>
          </a:xfrm>
          <a:prstGeom prst="rect">
            <a:avLst/>
          </a:prstGeom>
          <a:solidFill>
            <a:schemeClr val="accent2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D96D4A-16D3-4C35-A383-2DF039D54C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3791" y="787869"/>
            <a:ext cx="2743200" cy="2142144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anchor="ctr"/>
          <a:lstStyle>
            <a:lvl1pPr algn="ctr">
              <a:lnSpc>
                <a:spcPct val="100000"/>
              </a:lnSpc>
              <a:defRPr sz="2400" cap="all" spc="10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A6B5C4-24E3-C021-071B-DFF6C6CC49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3449" y="3429000"/>
            <a:ext cx="2920796" cy="29273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6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4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200" spc="10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F255611-8280-41F3-A5FA-821E144AEA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220928" y="787869"/>
            <a:ext cx="6292646" cy="54322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600" cap="all" baseline="0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sz="1200" cap="all" baseline="0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sz="1200" cap="all" baseline="0"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453DB9-3C4B-4136-96D2-08A7D5AD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464841-801A-499A-BFD2-9731D2D89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78F9D-CD73-4D53-A871-D6C0B643A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80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1225E-57F6-4605-A684-F9B30F1F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0559" y="1"/>
            <a:ext cx="4952999" cy="2182482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lIns="731520" rIns="731520" anchor="ctr"/>
          <a:lstStyle>
            <a:lvl1pPr algn="ctr">
              <a:defRPr sz="2400" cap="all" spc="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C93927AF-DF09-4CE5-8767-B2ECF0215B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42932" y="0"/>
            <a:ext cx="7249067" cy="218248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E8D114B-8AAB-41D6-AFCF-750066A652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9728" y="2924355"/>
            <a:ext cx="3769525" cy="3300645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E5C19A-AE6A-FEDE-6B3C-9B1701F4C50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3262" y="2932801"/>
            <a:ext cx="6411912" cy="3300851"/>
          </a:xfrm>
          <a:prstGeom prst="rect">
            <a:avLst/>
          </a:prstGeom>
        </p:spPr>
        <p:txBody>
          <a:bodyPr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spc="100" baseline="0"/>
            </a:lvl1pPr>
            <a:lvl2pPr marL="9144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spc="100" baseline="0"/>
            </a:lvl2pPr>
            <a:lvl3pPr marL="13716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spc="100" baseline="0"/>
            </a:lvl3pPr>
            <a:lvl4pPr marL="18288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spc="100" baseline="0"/>
            </a:lvl4pPr>
            <a:lvl5pPr marL="22860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spc="10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751D887-2419-4911-A7CC-9B5A598D7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8B214E0-C574-4CE5-8FF0-E0F965A4A0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C033920-FB08-49F3-8A75-14E68EF78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951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96722F2-1968-8B82-9382-187D808D9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F6663C8-5425-48D7-9E9D-F2B794222F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41541"/>
            <a:ext cx="10515600" cy="1215894"/>
          </a:xfrm>
          <a:prstGeom prst="rect">
            <a:avLst/>
          </a:prstGeom>
        </p:spPr>
        <p:txBody>
          <a:bodyPr anchor="b"/>
          <a:lstStyle>
            <a:lvl1pPr algn="ctr">
              <a:defRPr sz="2400" cap="all" spc="100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E7176063-74EF-4FC1-A687-2F5900412F5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59468" y="2674190"/>
            <a:ext cx="10494331" cy="36058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cap="all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58ECB-2935-45B1-80F1-ED38302C27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FC42CC-A62B-40E8-907A-F15D7C216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3E0735-85DE-48C3-8FE9-0754F9ABD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16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0061" y="1541398"/>
            <a:ext cx="4442603" cy="21248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anchor="ctr"/>
          <a:lstStyle>
            <a:lvl1pPr algn="ctr">
              <a:defRPr sz="240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34C23C4D-3C16-4A17-BF8A-A9C4E2F013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0061" y="3984426"/>
            <a:ext cx="4442603" cy="2424999"/>
          </a:xfrm>
          <a:prstGeom prst="rect">
            <a:avLst/>
          </a:prstGeom>
        </p:spPr>
        <p:txBody>
          <a:bodyPr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71736" y="0"/>
            <a:ext cx="5420263" cy="6858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4257799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02389-643A-44A3-9E32-4459CAEAC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3E221A-6F27-4890-B073-7BA27B8FB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B06CAC-A122-486F-81C6-4299D83E9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EA87306C-81BA-4795-A5CA-9392456A8C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113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73" r:id="rId3"/>
    <p:sldLayoutId id="2147483669" r:id="rId4"/>
    <p:sldLayoutId id="2147483651" r:id="rId5"/>
    <p:sldLayoutId id="2147483671" r:id="rId6"/>
    <p:sldLayoutId id="2147483652" r:id="rId7"/>
    <p:sldLayoutId id="2147483653" r:id="rId8"/>
    <p:sldLayoutId id="2147483650" r:id="rId9"/>
    <p:sldLayoutId id="2147483664" r:id="rId10"/>
    <p:sldLayoutId id="2147483659" r:id="rId11"/>
    <p:sldLayoutId id="2147483662" r:id="rId12"/>
    <p:sldLayoutId id="2147483670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gwa.com/en/videos/909167139353/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tatsandr.com/blog/correlation-coefficient-and-correlation-test-in-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Close-up of a green field">
            <a:extLst>
              <a:ext uri="{FF2B5EF4-FFF2-40B4-BE49-F238E27FC236}">
                <a16:creationId xmlns:a16="http://schemas.microsoft.com/office/drawing/2014/main" id="{FE4A4B5C-D71A-0CFA-A601-EB93F13F5AA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</a:blip>
          <a:srcRect/>
          <a:stretch/>
        </p:blipFill>
        <p:spPr>
          <a:xfrm>
            <a:off x="0" y="-2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C0147929-8D39-DAA9-C3C5-4829D9C31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36" y="786384"/>
            <a:ext cx="10853928" cy="4330784"/>
          </a:xfrm>
        </p:spPr>
        <p:txBody>
          <a:bodyPr/>
          <a:lstStyle/>
          <a:p>
            <a:r>
              <a:rPr lang="en-US" dirty="0"/>
              <a:t>Temporal-spatial changes of the unemployment rate in the contiguous USA</a:t>
            </a:r>
            <a:br>
              <a:rPr lang="en-US" dirty="0"/>
            </a:br>
            <a:r>
              <a:rPr lang="en-US" dirty="0"/>
              <a:t>By </a:t>
            </a:r>
            <a:br>
              <a:rPr lang="en-US" dirty="0"/>
            </a:br>
            <a:r>
              <a:rPr lang="en-US" dirty="0"/>
              <a:t>Matthew Heino</a:t>
            </a:r>
          </a:p>
        </p:txBody>
      </p:sp>
    </p:spTree>
    <p:extLst>
      <p:ext uri="{BB962C8B-B14F-4D97-AF65-F5344CB8AC3E}">
        <p14:creationId xmlns:p14="http://schemas.microsoft.com/office/powerpoint/2010/main" val="1760268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A green rolling hills with a sunset">
            <a:extLst>
              <a:ext uri="{FF2B5EF4-FFF2-40B4-BE49-F238E27FC236}">
                <a16:creationId xmlns:a16="http://schemas.microsoft.com/office/drawing/2014/main" id="{565AB0FC-9FCD-FDB2-1D84-F3D855D8387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/>
        </p:blipFill>
        <p:spPr>
          <a:xfrm>
            <a:off x="0" y="0"/>
            <a:ext cx="6772276" cy="6858000"/>
          </a:xfrm>
        </p:spPr>
      </p:pic>
      <p:sp>
        <p:nvSpPr>
          <p:cNvPr id="47" name="Title 46">
            <a:extLst>
              <a:ext uri="{FF2B5EF4-FFF2-40B4-BE49-F238E27FC236}">
                <a16:creationId xmlns:a16="http://schemas.microsoft.com/office/drawing/2014/main" id="{3F9E60C6-15AA-4C95-9519-652CD08A8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4747" y="2365057"/>
            <a:ext cx="4377400" cy="2160644"/>
          </a:xfrm>
        </p:spPr>
        <p:txBody>
          <a:bodyPr/>
          <a:lstStyle/>
          <a:p>
            <a:r>
              <a:rPr lang="en-US" noProof="0" dirty="0"/>
              <a:t>Sections Covered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0E8875C-8FE5-DCE1-106E-5F34DFD161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D3AADE-5119-8CE2-0DD5-2BD7E34032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51776" y="2071688"/>
            <a:ext cx="4416552" cy="2732087"/>
          </a:xfrm>
        </p:spPr>
        <p:txBody>
          <a:bodyPr/>
          <a:lstStyle/>
          <a:p>
            <a:r>
              <a:rPr lang="en-US" sz="2000" dirty="0"/>
              <a:t>1. Data</a:t>
            </a:r>
          </a:p>
          <a:p>
            <a:r>
              <a:rPr lang="en-US" sz="2000" dirty="0"/>
              <a:t>2. Project Objectives</a:t>
            </a:r>
          </a:p>
          <a:p>
            <a:r>
              <a:rPr lang="en-US" sz="2000" dirty="0"/>
              <a:t>3. Data Processing and Objectives</a:t>
            </a:r>
          </a:p>
          <a:p>
            <a:r>
              <a:rPr lang="en-US" sz="2000" dirty="0"/>
              <a:t>4. Discussion and Conclusion</a:t>
            </a:r>
          </a:p>
          <a:p>
            <a:r>
              <a:rPr lang="en-US" sz="2000" dirty="0"/>
              <a:t>5. References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A9558D5-EB6D-C2EA-C5E2-7907694485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A87306C-81BA-4795-A5CA-9392456A8C1E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292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field of wheat with tracks in it">
            <a:extLst>
              <a:ext uri="{FF2B5EF4-FFF2-40B4-BE49-F238E27FC236}">
                <a16:creationId xmlns:a16="http://schemas.microsoft.com/office/drawing/2014/main" id="{5BA975B6-ACDF-974C-4B0A-792DE5F09CB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</a:blip>
          <a:srcRect/>
          <a:stretch/>
        </p:blipFill>
        <p:spPr>
          <a:xfrm>
            <a:off x="0" y="-2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5BF4AF3-2D87-5D1D-245D-49E6F0B09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1230968"/>
          </a:xfrm>
        </p:spPr>
        <p:txBody>
          <a:bodyPr/>
          <a:lstStyle/>
          <a:p>
            <a:r>
              <a:rPr lang="en-US" dirty="0"/>
              <a:t>1. The Data</a:t>
            </a:r>
          </a:p>
        </p:txBody>
      </p:sp>
    </p:spTree>
    <p:extLst>
      <p:ext uri="{BB962C8B-B14F-4D97-AF65-F5344CB8AC3E}">
        <p14:creationId xmlns:p14="http://schemas.microsoft.com/office/powerpoint/2010/main" val="171007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4AEBF-73B2-2188-6E43-D85E8297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238" y="377976"/>
            <a:ext cx="4352081" cy="429768"/>
          </a:xfrm>
        </p:spPr>
        <p:txBody>
          <a:bodyPr/>
          <a:lstStyle/>
          <a:p>
            <a:r>
              <a:rPr lang="en-US" dirty="0">
                <a:latin typeface="Tenorite Display" panose="020F0502020204030204" pitchFamily="2" charset="0"/>
              </a:rPr>
              <a:t>The Data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DA3FAC68-747F-999F-4EF5-874B39A6DD5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6789480" y="0"/>
            <a:ext cx="5394960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885A6-2008-15E5-517B-3CBBFE99B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8B4D92-9FF9-A250-01E7-E70C636733AC}"/>
              </a:ext>
            </a:extLst>
          </p:cNvPr>
          <p:cNvSpPr txBox="1"/>
          <p:nvPr/>
        </p:nvSpPr>
        <p:spPr>
          <a:xfrm>
            <a:off x="475486" y="1091267"/>
            <a:ext cx="5815583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Consisted of three data files: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crime_and_incarceration_by_state.csv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holds information about crime statistics for each state and other data.  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composed of 18 different variables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unemployment_county.csv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contains data about the unemployment  rate by county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tl_2019_us_state.shp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shape file that will be used in the mapping the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226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ABD78-D387-F49E-AB03-93ED7001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field of wheat with tracks in it">
            <a:extLst>
              <a:ext uri="{FF2B5EF4-FFF2-40B4-BE49-F238E27FC236}">
                <a16:creationId xmlns:a16="http://schemas.microsoft.com/office/drawing/2014/main" id="{FE603B08-D39E-7487-A763-A3948CC3D7B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</a:blip>
          <a:srcRect/>
          <a:stretch/>
        </p:blipFill>
        <p:spPr>
          <a:xfrm>
            <a:off x="0" y="-2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EE2EC66-A350-D50B-A32D-0AFCBC937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1230968"/>
          </a:xfrm>
        </p:spPr>
        <p:txBody>
          <a:bodyPr/>
          <a:lstStyle/>
          <a:p>
            <a:r>
              <a:rPr lang="en-US" dirty="0"/>
              <a:t>2. Project Objectives</a:t>
            </a:r>
          </a:p>
        </p:txBody>
      </p:sp>
    </p:spTree>
    <p:extLst>
      <p:ext uri="{BB962C8B-B14F-4D97-AF65-F5344CB8AC3E}">
        <p14:creationId xmlns:p14="http://schemas.microsoft.com/office/powerpoint/2010/main" val="3756203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F3A4-D70B-6190-7E90-203FCBEC2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CB9D3-E2FE-7D26-64C9-28AC936FF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238" y="740664"/>
            <a:ext cx="4352081" cy="429768"/>
          </a:xfrm>
        </p:spPr>
        <p:txBody>
          <a:bodyPr/>
          <a:lstStyle/>
          <a:p>
            <a:r>
              <a:rPr lang="en-US" dirty="0"/>
              <a:t>Project Objectives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255EA6AC-61EE-AA50-7E13-D5847CF74E3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6789480" y="0"/>
            <a:ext cx="5394960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F15290-2D15-A9F5-95B2-CBBF8B034C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E2519B-2801-0DD4-3F2B-7365D5061168}"/>
              </a:ext>
            </a:extLst>
          </p:cNvPr>
          <p:cNvSpPr txBox="1"/>
          <p:nvPr/>
        </p:nvSpPr>
        <p:spPr>
          <a:xfrm>
            <a:off x="475488" y="1494044"/>
            <a:ext cx="5815583" cy="4195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determine if there is a correlation between the rate of crime and unemployment.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seeks to see if there is an observable correlation that be seen either graphically or seen in a mathematical supported way.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 discussion of the findings. The data topic that will be covered in this project will be the temporal-spatial changes of unemployment rate in the contiguous USA</a:t>
            </a:r>
          </a:p>
        </p:txBody>
      </p:sp>
    </p:spTree>
    <p:extLst>
      <p:ext uri="{BB962C8B-B14F-4D97-AF65-F5344CB8AC3E}">
        <p14:creationId xmlns:p14="http://schemas.microsoft.com/office/powerpoint/2010/main" val="4247720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7A8DC-5F0B-1057-DEB0-A2E0A018A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field of wheat with tracks in it">
            <a:extLst>
              <a:ext uri="{FF2B5EF4-FFF2-40B4-BE49-F238E27FC236}">
                <a16:creationId xmlns:a16="http://schemas.microsoft.com/office/drawing/2014/main" id="{5CE77177-84CF-8B37-7E0E-A23533C2944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</a:blip>
          <a:srcRect/>
          <a:stretch/>
        </p:blipFill>
        <p:spPr>
          <a:xfrm>
            <a:off x="0" y="-2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DE263B0-F785-FA29-D3AF-466196A93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76" y="2335192"/>
            <a:ext cx="10041115" cy="1450424"/>
          </a:xfrm>
        </p:spPr>
        <p:txBody>
          <a:bodyPr/>
          <a:lstStyle/>
          <a:p>
            <a:r>
              <a:rPr lang="en-US" dirty="0"/>
              <a:t>3. Data Processing and Objectives</a:t>
            </a:r>
          </a:p>
        </p:txBody>
      </p:sp>
    </p:spTree>
    <p:extLst>
      <p:ext uri="{BB962C8B-B14F-4D97-AF65-F5344CB8AC3E}">
        <p14:creationId xmlns:p14="http://schemas.microsoft.com/office/powerpoint/2010/main" val="2554731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4B21-0EE6-F90E-21F9-DDC7F6E94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ABE1-8FCA-2801-E36F-4072263EB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7" y="128016"/>
            <a:ext cx="4352081" cy="649224"/>
          </a:xfrm>
        </p:spPr>
        <p:txBody>
          <a:bodyPr/>
          <a:lstStyle/>
          <a:p>
            <a:r>
              <a:rPr lang="en-US" dirty="0"/>
              <a:t>Data Processing and Objectives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57FC0F91-6B13-E0BF-C0B5-BC3D3632BC4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7680960" y="0"/>
            <a:ext cx="4503480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D78201-3BAE-1D62-BFCB-60E5CED277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2D117F-A0B6-C4E9-F457-9723F779CDDB}"/>
              </a:ext>
            </a:extLst>
          </p:cNvPr>
          <p:cNvSpPr txBox="1"/>
          <p:nvPr/>
        </p:nvSpPr>
        <p:spPr>
          <a:xfrm>
            <a:off x="301752" y="886968"/>
            <a:ext cx="6830568" cy="5446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Steps that followed to prepare the data for analysis: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Read the data from the CSV files into individual data frames. </a:t>
            </a:r>
            <a:r>
              <a:rPr lang="en-US" sz="2000" b="1" dirty="0"/>
              <a:t>Section: 3.0.1 </a:t>
            </a:r>
            <a:r>
              <a:rPr lang="en-US" sz="20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Remove the parts of the United States that are not contiguous. </a:t>
            </a:r>
            <a:r>
              <a:rPr lang="en-US" sz="2000" b="1" dirty="0"/>
              <a:t>Section: 3.0.2 </a:t>
            </a:r>
            <a:r>
              <a:rPr lang="en-US" sz="20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Process the unemployment rate data. Section: </a:t>
            </a:r>
            <a:r>
              <a:rPr lang="en-US" sz="2000" b="1" dirty="0"/>
              <a:t>3.0.3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Process the crime rate data. </a:t>
            </a:r>
            <a:r>
              <a:rPr lang="en-US" sz="2000" b="1" dirty="0"/>
              <a:t>Section: 3.0.4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Join relational tables. </a:t>
            </a:r>
            <a:r>
              <a:rPr lang="en-US" sz="2000" b="1" dirty="0"/>
              <a:t>Section: 3.0.6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the final combined and cleaned data. </a:t>
            </a:r>
            <a:r>
              <a:rPr lang="en-US" sz="2000" b="1" dirty="0"/>
              <a:t>Section: 3.0.7</a:t>
            </a:r>
          </a:p>
          <a:p>
            <a:pPr>
              <a:lnSpc>
                <a:spcPct val="150000"/>
              </a:lnSpc>
            </a:pPr>
            <a:endParaRPr lang="en-US" sz="1200" b="1" dirty="0"/>
          </a:p>
          <a:p>
            <a:pPr>
              <a:lnSpc>
                <a:spcPct val="150000"/>
              </a:lnSpc>
            </a:pPr>
            <a:r>
              <a:rPr lang="en-US" sz="1200" b="1" dirty="0"/>
              <a:t>Note</a:t>
            </a:r>
            <a:r>
              <a:rPr lang="en-US" sz="1200" dirty="0"/>
              <a:t>: The sections at the end of the bullet refer to the section of the RMD file that accompanies this PowerPoint presentation.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72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CF019-FF24-5DD6-3043-9654E627D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9936D-0B0A-D162-972E-4B2F3BA9D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7" y="128016"/>
            <a:ext cx="4352081" cy="649224"/>
          </a:xfrm>
        </p:spPr>
        <p:txBody>
          <a:bodyPr/>
          <a:lstStyle/>
          <a:p>
            <a:r>
              <a:rPr lang="en-US" dirty="0"/>
              <a:t>Data Processing and Objectives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FC5C6659-4504-3A87-2800-A69D4F5E8AF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7680960" y="0"/>
            <a:ext cx="4503480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8E0A1-B573-51C8-D732-2D327F0D44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10BA2-868F-3519-9BE1-699174ED5113}"/>
              </a:ext>
            </a:extLst>
          </p:cNvPr>
          <p:cNvSpPr txBox="1"/>
          <p:nvPr/>
        </p:nvSpPr>
        <p:spPr>
          <a:xfrm>
            <a:off x="301752" y="886968"/>
            <a:ext cx="6099047" cy="3230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Read the data from the CSV files into individual data frames. </a:t>
            </a:r>
            <a:r>
              <a:rPr lang="en-US" sz="2000" b="1" dirty="0"/>
              <a:t>Section: 3.0.1 </a:t>
            </a:r>
            <a:r>
              <a:rPr lang="en-US" sz="2000" dirty="0"/>
              <a:t>: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The </a:t>
            </a:r>
            <a:r>
              <a:rPr lang="en-US" sz="2000" b="1" dirty="0"/>
              <a:t>unemployment_county.csv </a:t>
            </a:r>
            <a:r>
              <a:rPr lang="en-US" sz="2000" dirty="0"/>
              <a:t>had the following layout: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6907-6D1C-A538-6586-885F80BCC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16" y="2730937"/>
            <a:ext cx="6367544" cy="24706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442D9E-8D67-1FA6-B25B-A5F2F869DCF1}"/>
              </a:ext>
            </a:extLst>
          </p:cNvPr>
          <p:cNvSpPr txBox="1"/>
          <p:nvPr/>
        </p:nvSpPr>
        <p:spPr>
          <a:xfrm>
            <a:off x="582167" y="5295477"/>
            <a:ext cx="5538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Table 3.2: Unemployment Rate</a:t>
            </a:r>
          </a:p>
        </p:txBody>
      </p:sp>
    </p:spTree>
    <p:extLst>
      <p:ext uri="{BB962C8B-B14F-4D97-AF65-F5344CB8AC3E}">
        <p14:creationId xmlns:p14="http://schemas.microsoft.com/office/powerpoint/2010/main" val="1912322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73202-A2DB-0F98-D096-3C14402D7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CF3-AD8B-FFC7-D6B8-7B4B8CD6C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7" y="128016"/>
            <a:ext cx="4352081" cy="649224"/>
          </a:xfrm>
        </p:spPr>
        <p:txBody>
          <a:bodyPr/>
          <a:lstStyle/>
          <a:p>
            <a:r>
              <a:rPr lang="en-US" dirty="0"/>
              <a:t>Data Processing and Objectives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6667595F-804E-AE1B-4E50-F5AF12C489E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8668512" y="0"/>
            <a:ext cx="3515928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486B0-F527-5932-19A9-F4FA6E1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C83129-F06B-85EB-8A20-31289B0301D1}"/>
              </a:ext>
            </a:extLst>
          </p:cNvPr>
          <p:cNvSpPr txBox="1"/>
          <p:nvPr/>
        </p:nvSpPr>
        <p:spPr>
          <a:xfrm>
            <a:off x="301752" y="886968"/>
            <a:ext cx="6309360" cy="2122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Read the data from the CSV files into individual data frames. </a:t>
            </a:r>
            <a:r>
              <a:rPr lang="en-US" b="1" dirty="0"/>
              <a:t>Section: 3.0.1 </a:t>
            </a:r>
            <a:r>
              <a:rPr lang="en-US" dirty="0"/>
              <a:t>:</a:t>
            </a:r>
          </a:p>
          <a:p>
            <a:pPr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crime_and_incarceration_by_state </a:t>
            </a:r>
            <a:r>
              <a:rPr lang="en-US" dirty="0"/>
              <a:t>had the following layout (Table 3.2 Crime and Incarceration by State) 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BD354F-D293-0A7F-A551-FC5ACD6C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85" y="2841134"/>
            <a:ext cx="6940296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696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723F6-BC16-F014-653B-73FAFC781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DAB1F-5B85-738F-3573-8BE39E21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7" y="128016"/>
            <a:ext cx="4352081" cy="649224"/>
          </a:xfrm>
        </p:spPr>
        <p:txBody>
          <a:bodyPr/>
          <a:lstStyle/>
          <a:p>
            <a:r>
              <a:rPr lang="en-US" dirty="0"/>
              <a:t>Data Processing and Objectives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146250B2-0414-403D-41C2-DEB8F55D894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8668512" y="0"/>
            <a:ext cx="3515928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1E562B-CA27-D77A-0504-0BE0F0C58E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5B2636-F652-482D-2DBB-568A6888BC3C}"/>
              </a:ext>
            </a:extLst>
          </p:cNvPr>
          <p:cNvSpPr txBox="1"/>
          <p:nvPr/>
        </p:nvSpPr>
        <p:spPr>
          <a:xfrm>
            <a:off x="301752" y="886969"/>
            <a:ext cx="7040880" cy="2122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Read the data from the CSV files into individual data frames. </a:t>
            </a:r>
            <a:r>
              <a:rPr lang="en-US" b="1" dirty="0"/>
              <a:t>Section: 3.0.1 </a:t>
            </a:r>
            <a:r>
              <a:rPr lang="en-US" dirty="0"/>
              <a:t>:</a:t>
            </a:r>
          </a:p>
          <a:p>
            <a:pPr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t1_2019_us_state.shp </a:t>
            </a:r>
            <a:r>
              <a:rPr lang="en-US" dirty="0"/>
              <a:t>had the following layout (Table 3.2: States)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40FBE68-D90B-2634-777A-ADB08C5D2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18" y="2761435"/>
            <a:ext cx="6317742" cy="29352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66068F2-CD3E-DE95-E4AD-5737529C8535}"/>
              </a:ext>
            </a:extLst>
          </p:cNvPr>
          <p:cNvSpPr txBox="1"/>
          <p:nvPr/>
        </p:nvSpPr>
        <p:spPr>
          <a:xfrm>
            <a:off x="364618" y="5867253"/>
            <a:ext cx="50474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Note</a:t>
            </a:r>
            <a:r>
              <a:rPr lang="en-US" dirty="0"/>
              <a:t>: </a:t>
            </a:r>
            <a:r>
              <a:rPr lang="en-US" sz="1200" dirty="0"/>
              <a:t>This image does not contain all the data that was in the file.  It only contains the first ten rows of data.</a:t>
            </a:r>
          </a:p>
        </p:txBody>
      </p:sp>
    </p:spTree>
    <p:extLst>
      <p:ext uri="{BB962C8B-B14F-4D97-AF65-F5344CB8AC3E}">
        <p14:creationId xmlns:p14="http://schemas.microsoft.com/office/powerpoint/2010/main" val="3294950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D0FD9-2656-80A5-3CC8-A7CB71201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field of wheat with tracks in it">
            <a:extLst>
              <a:ext uri="{FF2B5EF4-FFF2-40B4-BE49-F238E27FC236}">
                <a16:creationId xmlns:a16="http://schemas.microsoft.com/office/drawing/2014/main" id="{0654B1CA-41F2-3F44-29B0-1F76D734A39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</a:blip>
          <a:srcRect/>
          <a:stretch/>
        </p:blipFill>
        <p:spPr>
          <a:xfrm>
            <a:off x="0" y="-2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A8FB9DE-CBED-5EC8-3FCA-7092C9583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76" y="2335192"/>
            <a:ext cx="10041115" cy="1450424"/>
          </a:xfrm>
        </p:spPr>
        <p:txBody>
          <a:bodyPr/>
          <a:lstStyle/>
          <a:p>
            <a:r>
              <a:rPr lang="en-US" dirty="0"/>
              <a:t>Processing</a:t>
            </a:r>
          </a:p>
        </p:txBody>
      </p:sp>
    </p:spTree>
    <p:extLst>
      <p:ext uri="{BB962C8B-B14F-4D97-AF65-F5344CB8AC3E}">
        <p14:creationId xmlns:p14="http://schemas.microsoft.com/office/powerpoint/2010/main" val="1506213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81953-59B6-BA9F-4279-105465AEE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DB78-8474-3D6A-907F-867CBBAB5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395" y="177200"/>
            <a:ext cx="4352081" cy="649224"/>
          </a:xfrm>
        </p:spPr>
        <p:txBody>
          <a:bodyPr/>
          <a:lstStyle/>
          <a:p>
            <a:r>
              <a:rPr lang="en-US" dirty="0"/>
              <a:t>Processing The Data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E74AE73C-CA8E-FD09-9725-29FB99558FA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9564914" y="0"/>
            <a:ext cx="2619526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CDE1E-67BF-7936-6F8D-D13891E287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D73910-DC99-FC30-2DB1-C800B39FEB26}"/>
              </a:ext>
            </a:extLst>
          </p:cNvPr>
          <p:cNvSpPr txBox="1"/>
          <p:nvPr/>
        </p:nvSpPr>
        <p:spPr>
          <a:xfrm>
            <a:off x="377836" y="826424"/>
            <a:ext cx="8882278" cy="6647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The data was not in a state where it could be used.  The following steps were performed to get the data into a usable state for analysis.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Steps</a:t>
            </a:r>
            <a:r>
              <a:rPr lang="en-US" sz="2000" dirty="0"/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State polygons (file)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remove some states that are not part of the contiguous USA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unemployment_county (file)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remove some states that are not part of the contiguous USA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rename the state column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filter years: 2007-2014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crime_and_incarceration_by_state</a:t>
            </a:r>
            <a:r>
              <a:rPr lang="en-US" sz="2000" dirty="0"/>
              <a:t> (file)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change state column name.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remove some states/region.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change all the states in capital case into 2-letter abbreviation name.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5740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C60F-FD74-F2DF-B25A-253AB5B6E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84E5-0199-D458-45C4-672041B6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910" y="177200"/>
            <a:ext cx="4352081" cy="649224"/>
          </a:xfrm>
        </p:spPr>
        <p:txBody>
          <a:bodyPr/>
          <a:lstStyle/>
          <a:p>
            <a:r>
              <a:rPr lang="en-US"/>
              <a:t>Processing The Data</a:t>
            </a:r>
            <a:endParaRPr lang="en-US" dirty="0"/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FA83D520-79CD-E863-E6A4-A76A0714ED9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8348472" y="0"/>
            <a:ext cx="3835968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2E63AB-A915-0A1E-3911-DE8649B7C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E87194-67C6-2865-9ABA-045E87FAE65E}"/>
              </a:ext>
            </a:extLst>
          </p:cNvPr>
          <p:cNvSpPr txBox="1"/>
          <p:nvPr/>
        </p:nvSpPr>
        <p:spPr>
          <a:xfrm>
            <a:off x="670559" y="826425"/>
            <a:ext cx="7193279" cy="2348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There were a few additional steps that were accomplished in the section.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Calculate the crime rate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Join relational tables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The result is the following table.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69D48A-FA6D-30FE-CA25-06547F811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208" y="3429000"/>
            <a:ext cx="4935483" cy="2295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74D753-54A7-3BCC-B422-05CA810E378F}"/>
              </a:ext>
            </a:extLst>
          </p:cNvPr>
          <p:cNvSpPr txBox="1"/>
          <p:nvPr/>
        </p:nvSpPr>
        <p:spPr>
          <a:xfrm>
            <a:off x="982980" y="5989320"/>
            <a:ext cx="6003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Additional information can be found in the accompanying HTML file.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0318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1EFC-DE25-3EB0-150B-586B5C9F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field of wheat with tracks in it">
            <a:extLst>
              <a:ext uri="{FF2B5EF4-FFF2-40B4-BE49-F238E27FC236}">
                <a16:creationId xmlns:a16="http://schemas.microsoft.com/office/drawing/2014/main" id="{9816AEDF-DCCA-D445-F6ED-B0E91141B1F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</a:blip>
          <a:srcRect/>
          <a:stretch/>
        </p:blipFill>
        <p:spPr>
          <a:xfrm>
            <a:off x="0" y="-2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46763E7-840E-7E3C-4D0D-0757ECF30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2335192"/>
            <a:ext cx="10214851" cy="1596728"/>
          </a:xfrm>
        </p:spPr>
        <p:txBody>
          <a:bodyPr/>
          <a:lstStyle/>
          <a:p>
            <a:r>
              <a:rPr lang="en-US" sz="5400" dirty="0"/>
              <a:t>Discussion and Conclusion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14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C4D9-9625-66BD-0857-26B81826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A28D-7A61-0CCA-3DEA-7F0051FDD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7" y="128016"/>
            <a:ext cx="4727447" cy="649224"/>
          </a:xfrm>
        </p:spPr>
        <p:txBody>
          <a:bodyPr/>
          <a:lstStyle/>
          <a:p>
            <a:r>
              <a:rPr lang="en-US" sz="2400" dirty="0"/>
              <a:t>Discussion and Conclusion</a:t>
            </a:r>
            <a:endParaRPr lang="en-US" dirty="0"/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6C4EAEA5-90AB-FAC0-F9B7-6D48BFB18D1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6789480" y="0"/>
            <a:ext cx="5394960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0511D-D520-F18B-916A-68CFCAA1AC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7982EF-54C2-9E01-A4B2-49AEE625345D}"/>
              </a:ext>
            </a:extLst>
          </p:cNvPr>
          <p:cNvSpPr txBox="1"/>
          <p:nvPr/>
        </p:nvSpPr>
        <p:spPr>
          <a:xfrm>
            <a:off x="301752" y="886968"/>
            <a:ext cx="6099047" cy="615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1200" b="1" dirty="0"/>
          </a:p>
          <a:p>
            <a:pPr>
              <a:lnSpc>
                <a:spcPct val="150000"/>
              </a:lnSpc>
            </a:pPr>
            <a:r>
              <a:rPr lang="en-US" sz="1200" b="1" dirty="0"/>
              <a:t>Note</a:t>
            </a:r>
            <a:r>
              <a:rPr lang="en-US" sz="1200" dirty="0"/>
              <a:t>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249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AA059-31D4-73F1-C94D-6655D670B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field of wheat with tracks in it">
            <a:extLst>
              <a:ext uri="{FF2B5EF4-FFF2-40B4-BE49-F238E27FC236}">
                <a16:creationId xmlns:a16="http://schemas.microsoft.com/office/drawing/2014/main" id="{DA601539-B464-DEAC-6F11-C3E70080532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</a:blip>
          <a:srcRect/>
          <a:stretch/>
        </p:blipFill>
        <p:spPr>
          <a:xfrm>
            <a:off x="0" y="-2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83680B72-6383-1979-D7C6-841CD6CCE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76" y="2335192"/>
            <a:ext cx="10041115" cy="1450424"/>
          </a:xfrm>
        </p:spPr>
        <p:txBody>
          <a:bodyPr/>
          <a:lstStyle/>
          <a:p>
            <a:r>
              <a:rPr lang="en-US" dirty="0"/>
              <a:t>5. References</a:t>
            </a:r>
          </a:p>
        </p:txBody>
      </p:sp>
    </p:spTree>
    <p:extLst>
      <p:ext uri="{BB962C8B-B14F-4D97-AF65-F5344CB8AC3E}">
        <p14:creationId xmlns:p14="http://schemas.microsoft.com/office/powerpoint/2010/main" val="3989751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341F3-5CA2-2A20-A719-9E0E5C11F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60A33-7857-F9AC-528D-68D1A9AF2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3099" y="173736"/>
            <a:ext cx="4352081" cy="649224"/>
          </a:xfrm>
        </p:spPr>
        <p:txBody>
          <a:bodyPr/>
          <a:lstStyle/>
          <a:p>
            <a:r>
              <a:rPr lang="en-US" dirty="0"/>
              <a:t>Processing The Data</a:t>
            </a:r>
          </a:p>
        </p:txBody>
      </p:sp>
      <p:pic>
        <p:nvPicPr>
          <p:cNvPr id="7" name="Picture Placeholder 4" descr="A close-up of a field">
            <a:extLst>
              <a:ext uri="{FF2B5EF4-FFF2-40B4-BE49-F238E27FC236}">
                <a16:creationId xmlns:a16="http://schemas.microsoft.com/office/drawing/2014/main" id="{667BE038-F346-9330-2BDA-4752792E450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234" r="234"/>
          <a:stretch/>
        </p:blipFill>
        <p:spPr>
          <a:xfrm>
            <a:off x="9528048" y="0"/>
            <a:ext cx="2656392" cy="68580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2CD697-7986-5400-B352-42FBB4D463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/>
          <a:lstStyle/>
          <a:p>
            <a:fld id="{EA87306C-81BA-4795-A5CA-9392456A8C1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097912-BB87-E847-8C95-ABA30CDD3F49}"/>
              </a:ext>
            </a:extLst>
          </p:cNvPr>
          <p:cNvSpPr txBox="1"/>
          <p:nvPr/>
        </p:nvSpPr>
        <p:spPr>
          <a:xfrm>
            <a:off x="237744" y="1719072"/>
            <a:ext cx="8622792" cy="495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Fallahi, F., &amp; Rodríguez, G. (2014). Link between unemployment and crime in the US: A Markov-Switching approach. </a:t>
            </a:r>
            <a:r>
              <a:rPr lang="en-US" sz="2000" i="1" dirty="0"/>
              <a:t>ScienceDirect</a:t>
            </a:r>
            <a:r>
              <a:rPr lang="en-US" sz="2000" dirty="0"/>
              <a:t>.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Question Video: Identifying the Linear Correlation from the Scattergraph, Nagwa. (n.d.). </a:t>
            </a:r>
            <a:r>
              <a:rPr lang="en-US" sz="2000" i="1" dirty="0"/>
              <a:t>Identifying the Linear Correlation from the Scattergraph </a:t>
            </a:r>
            <a:r>
              <a:rPr lang="en-US" sz="2000" dirty="0"/>
              <a:t>[Video]. Nagwa. </a:t>
            </a:r>
            <a:r>
              <a:rPr lang="en-US" sz="2000" dirty="0">
                <a:hlinkClick r:id="rId3"/>
              </a:rPr>
              <a:t>https://www.nagwa.com/en/videos/909167139353/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Soetewey, A. (2020, May 28). </a:t>
            </a:r>
            <a:r>
              <a:rPr lang="en-US" sz="2000" i="1" dirty="0"/>
              <a:t>Correlation coefficient and correlation test in R. Stats and R</a:t>
            </a:r>
            <a:r>
              <a:rPr lang="en-US" sz="2000" dirty="0"/>
              <a:t>. Retrieved February 13, 2025, from </a:t>
            </a:r>
            <a:r>
              <a:rPr lang="en-US" sz="2000" dirty="0">
                <a:hlinkClick r:id="rId4"/>
              </a:rPr>
              <a:t>https://statsandr.com/blog/correlation-coefficient-and-correlation-test-in-r</a:t>
            </a:r>
            <a:r>
              <a:rPr lang="en-US" sz="2000" b="1" dirty="0">
                <a:hlinkClick r:id="rId4"/>
              </a:rPr>
              <a:t>/</a:t>
            </a:r>
            <a:endParaRPr lang="en-US" sz="2000" b="1" dirty="0"/>
          </a:p>
          <a:p>
            <a:pPr>
              <a:lnSpc>
                <a:spcPct val="150000"/>
              </a:lnSpc>
            </a:pP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80411839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D0E9"/>
      </a:accent1>
      <a:accent2>
        <a:srgbClr val="476977"/>
      </a:accent2>
      <a:accent3>
        <a:srgbClr val="79BBE9"/>
      </a:accent3>
      <a:accent4>
        <a:srgbClr val="6B8043"/>
      </a:accent4>
      <a:accent5>
        <a:srgbClr val="9ACF21"/>
      </a:accent5>
      <a:accent6>
        <a:srgbClr val="CFDCA5"/>
      </a:accent6>
      <a:hlink>
        <a:srgbClr val="0563C1"/>
      </a:hlink>
      <a:folHlink>
        <a:srgbClr val="954F72"/>
      </a:folHlink>
    </a:clrScheme>
    <a:fontScheme name="Custom 26">
      <a:majorFont>
        <a:latin typeface="Tenorite Bold"/>
        <a:ea typeface=""/>
        <a:cs typeface=""/>
      </a:majorFont>
      <a:minorFont>
        <a:latin typeface="Tenorite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175_Win32_SL_V6" id="{2596AF0E-92BF-4F5A-A2A1-B1C9D33CD0CE}" vid="{0709752F-9199-467A-B305-5274ECB683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424615-5FE5-4F43-AE24-3BC9A05326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19A644-6410-4EC7-894C-877E70305DF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5AD180A-D253-4F84-BD24-8EE736E655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{7B0E4500-7FE0-49B7-873F-CCAD900C3FEB}tf16411175_win32</Template>
  <TotalTime>91</TotalTime>
  <Words>726</Words>
  <Application>Microsoft Office PowerPoint</Application>
  <PresentationFormat>Widescreen</PresentationFormat>
  <Paragraphs>87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Tenorite </vt:lpstr>
      <vt:lpstr>Tenorite Bold</vt:lpstr>
      <vt:lpstr>Tenorite Display</vt:lpstr>
      <vt:lpstr>Custom</vt:lpstr>
      <vt:lpstr>Temporal-spatial changes of the unemployment rate in the contiguous USA By  Matthew Heino</vt:lpstr>
      <vt:lpstr>Sections Covered</vt:lpstr>
      <vt:lpstr>1. The Data</vt:lpstr>
      <vt:lpstr>The Data</vt:lpstr>
      <vt:lpstr>2. Project Objectives</vt:lpstr>
      <vt:lpstr>Project Objectives</vt:lpstr>
      <vt:lpstr>3. Data Processing and Objectives</vt:lpstr>
      <vt:lpstr>Data Processing and Objectives</vt:lpstr>
      <vt:lpstr>Data Processing and Objectives</vt:lpstr>
      <vt:lpstr>Data Processing and Objectives</vt:lpstr>
      <vt:lpstr>Data Processing and Objectives</vt:lpstr>
      <vt:lpstr>Processing</vt:lpstr>
      <vt:lpstr>Processing The Data</vt:lpstr>
      <vt:lpstr>Processing The Data</vt:lpstr>
      <vt:lpstr>Discussion and Conclusion</vt:lpstr>
      <vt:lpstr>Discussion and Conclusion</vt:lpstr>
      <vt:lpstr>5. References</vt:lpstr>
      <vt:lpstr>Processing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Heino, Matthew</dc:creator>
  <cp:lastModifiedBy>Heino, Matthew</cp:lastModifiedBy>
  <cp:revision>53</cp:revision>
  <dcterms:created xsi:type="dcterms:W3CDTF">2025-03-19T19:36:08Z</dcterms:created>
  <dcterms:modified xsi:type="dcterms:W3CDTF">2025-03-19T23:31:34Z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